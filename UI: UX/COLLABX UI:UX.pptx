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31"/>
    <p:restoredTop sz="94646"/>
  </p:normalViewPr>
  <p:slideViewPr>
    <p:cSldViewPr snapToGrid="0" snapToObjects="1">
      <p:cViewPr varScale="1">
        <p:scale>
          <a:sx n="89" d="100"/>
          <a:sy n="89" d="100"/>
        </p:scale>
        <p:origin x="440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A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2880" y="182880"/>
            <a:ext cx="3200400" cy="3200400"/>
          </a:xfrm>
          <a:prstGeom prst="ellipse">
            <a:avLst/>
          </a:prstGeom>
          <a:solidFill>
            <a:srgbClr val="0E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3200400" y="4114800"/>
            <a:ext cx="2286000" cy="2286000"/>
          </a:xfrm>
          <a:prstGeom prst="ellipse">
            <a:avLst/>
          </a:prstGeom>
          <a:solidFill>
            <a:srgbClr val="0E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74519" y="2103120"/>
            <a:ext cx="1280160" cy="1280160"/>
          </a:xfrm>
          <a:prstGeom prst="ellipse">
            <a:avLst/>
          </a:prstGeom>
          <a:solidFill>
            <a:srgbClr val="0E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057400" y="2286000"/>
            <a:ext cx="914400" cy="91440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240280" y="24688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400300" y="2628900"/>
            <a:ext cx="228600" cy="228600"/>
          </a:xfrm>
          <a:prstGeom prst="ellipse">
            <a:avLst/>
          </a:prstGeom>
          <a:solidFill>
            <a:srgbClr val="0A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633472" y="2633472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109728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Calibri"/>
              </a:rPr>
              <a:t>Eye-Tracking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19" y="155905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B4D8"/>
                </a:solidFill>
                <a:latin typeface="Calibri"/>
              </a:rPr>
              <a:t>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502920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0D8"/>
                </a:solidFill>
                <a:latin typeface="Calibri"/>
              </a:rPr>
              <a:t>UI/UX Method — Task Option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44068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D0D8"/>
                </a:solidFill>
                <a:latin typeface="Calibri"/>
              </a:rPr>
              <a:t>Attention-Driven Interface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097280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5A"/>
                </a:solidFill>
                <a:latin typeface="Calibri"/>
              </a:rPr>
              <a:t>Applied 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155448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0A295C"/>
                </a:solidFill>
                <a:latin typeface="Calibri"/>
              </a:rPr>
              <a:t>CollabX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31720"/>
            <a:ext cx="6675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3AED"/>
                </a:solidFill>
                <a:latin typeface="Calibri"/>
              </a:rPr>
              <a:t>RDI Platform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3017520"/>
            <a:ext cx="6217920" cy="36576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0" y="315468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4A4A5A"/>
                </a:solidFill>
                <a:latin typeface="Calibri"/>
              </a:rPr>
              <a:t>This presentation applies eye-tracking principles to predict how users visually interact with </a:t>
            </a:r>
            <a:r>
              <a:rPr sz="1300" b="0" dirty="0" err="1">
                <a:solidFill>
                  <a:srgbClr val="4A4A5A"/>
                </a:solidFill>
                <a:latin typeface="Calibri"/>
              </a:rPr>
              <a:t>CollabX</a:t>
            </a:r>
            <a:r>
              <a:rPr sz="1300" b="0" dirty="0">
                <a:solidFill>
                  <a:srgbClr val="4A4A5A"/>
                </a:solidFill>
                <a:latin typeface="Calibri"/>
              </a:rPr>
              <a:t> screens — identifying attention failures and proposing data-driven design improvements.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4754880"/>
            <a:ext cx="1463040" cy="384048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49240" y="4773168"/>
            <a:ext cx="1371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Fixations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754880"/>
            <a:ext cx="1463040" cy="384048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49440" y="4773168"/>
            <a:ext cx="1371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Scan Paths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4754880"/>
            <a:ext cx="1463040" cy="384048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49640" y="4773168"/>
            <a:ext cx="1371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Heat Maps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4754880"/>
            <a:ext cx="1463040" cy="384048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149840" y="4773168"/>
            <a:ext cx="13716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F-Pattern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612648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0D8"/>
                </a:solidFill>
                <a:latin typeface="Calibri"/>
              </a:rPr>
              <a:t>Khuman Rana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A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WHAT IS EYE-TRACKING RESEARCH?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148840" cy="2926080"/>
          </a:xfrm>
          <a:prstGeom prst="rect">
            <a:avLst/>
          </a:prstGeom>
          <a:solidFill>
            <a:srgbClr val="E8F4FD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1560" y="1143000"/>
            <a:ext cx="685800" cy="68580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207008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01168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B4D8"/>
                </a:solidFill>
                <a:latin typeface="Calibri"/>
              </a:rPr>
              <a:t>Fixations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514600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5A"/>
                </a:solidFill>
                <a:latin typeface="Calibri"/>
              </a:rPr>
              <a:t>Eyes pause on one point. Shows where the brain processes information.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960120"/>
            <a:ext cx="2148840" cy="2926080"/>
          </a:xfrm>
          <a:prstGeom prst="rect">
            <a:avLst/>
          </a:prstGeom>
          <a:solidFill>
            <a:srgbClr val="FFEEEE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429000" y="1143000"/>
            <a:ext cx="685800" cy="6858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1207008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01168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6B6B"/>
                </a:solidFill>
                <a:latin typeface="Calibri"/>
              </a:rPr>
              <a:t>Saccades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514600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5A"/>
                </a:solidFill>
                <a:latin typeface="Calibri"/>
              </a:rPr>
              <a:t>Rapid jumps between fixations. The invisible path between attention points.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960120"/>
            <a:ext cx="2148840" cy="2926080"/>
          </a:xfrm>
          <a:prstGeom prst="rect">
            <a:avLst/>
          </a:prstGeom>
          <a:solidFill>
            <a:srgbClr val="F3EE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806440" y="1143000"/>
            <a:ext cx="685800" cy="6858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06440" y="1207008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59" y="201168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7C3AED"/>
                </a:solidFill>
                <a:latin typeface="Calibri"/>
              </a:rPr>
              <a:t>Scan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59" y="2514600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5A"/>
                </a:solidFill>
                <a:latin typeface="Calibri"/>
              </a:rPr>
              <a:t>Complete journey of fixations. Shows how a user 'reads' a screen.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2360" y="960120"/>
            <a:ext cx="2148840" cy="2926080"/>
          </a:xfrm>
          <a:prstGeom prst="rect">
            <a:avLst/>
          </a:prstGeom>
          <a:solidFill>
            <a:srgbClr val="FFF8E1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183880" y="1143000"/>
            <a:ext cx="685800" cy="685800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43800" y="201168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B703"/>
                </a:solidFill>
                <a:latin typeface="Calibri"/>
              </a:rPr>
              <a:t>Heat Maps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514600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5A"/>
                </a:solidFill>
                <a:latin typeface="Calibri"/>
              </a:rPr>
              <a:t>Visual overlay of all fixations. Red = most looked at. Blue = ignored.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960120"/>
            <a:ext cx="2148840" cy="2926080"/>
          </a:xfrm>
          <a:prstGeom prst="rect">
            <a:avLst/>
          </a:prstGeom>
          <a:solidFill>
            <a:srgbClr val="E6FBF4"/>
          </a:solidFill>
          <a:ln w="254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561320" y="1143000"/>
            <a:ext cx="685800" cy="685800"/>
          </a:xfrm>
          <a:prstGeom prst="ellipse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61320" y="1207008"/>
            <a:ext cx="685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01168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6D6A0"/>
                </a:solidFill>
                <a:latin typeface="Calibri"/>
              </a:rPr>
              <a:t>Entry Point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514600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5A"/>
                </a:solidFill>
                <a:latin typeface="Calibri"/>
              </a:rPr>
              <a:t>The very first thing a user looks at. Sets the entire reading experience.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069080"/>
            <a:ext cx="115214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4069080"/>
            <a:ext cx="73152" cy="2514600"/>
          </a:xfrm>
          <a:prstGeom prst="rect">
            <a:avLst/>
          </a:prstGeom>
          <a:solidFill>
            <a:srgbClr val="0A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2062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295C"/>
                </a:solidFill>
                <a:latin typeface="Calibri"/>
              </a:rPr>
              <a:t>WHY IT MATTERS FOR COLLABX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4709160"/>
            <a:ext cx="5486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663440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CollabX has information-dense screens where students and admins must notice specific elements to complete tasks successfully.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5257800"/>
            <a:ext cx="5486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5212079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Features like AI Score, Template Buttons, and Skill Gap Analysis are built but may be invisible to users if visual hierarchy is wrong.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5806440"/>
            <a:ext cx="54864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7240" y="5760720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Analytical eye-tracking applies the principles without equipment — predicting fixation patterns using visual weight, contrast, position and size.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SCREENS SELECTED FOR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1691640"/>
          </a:xfrm>
          <a:prstGeom prst="rect">
            <a:avLst/>
          </a:prstGeom>
          <a:solidFill>
            <a:srgbClr val="E8F4FD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1188720" cy="16916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1188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024128"/>
            <a:ext cx="1371600" cy="292608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37360" y="10424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Student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389888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B4D8"/>
                </a:solidFill>
                <a:latin typeface="Calibri"/>
              </a:rPr>
              <a:t>Research Arena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01952"/>
            <a:ext cx="9601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Students see challenges, template buttons, textarea, AI score and Accept/Decline all on one page. Most complex student screen.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28600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D0D8"/>
                </a:solidFill>
                <a:latin typeface="Calibri"/>
              </a:rPr>
              <a:t>Key question: Are users looking at the right things at the right time?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11430000" cy="1691640"/>
          </a:xfrm>
          <a:prstGeom prst="rect">
            <a:avLst/>
          </a:prstGeom>
          <a:solidFill>
            <a:srgbClr val="FFEEEE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1188720" cy="16916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3246120"/>
            <a:ext cx="1188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1640" y="2898648"/>
            <a:ext cx="1371600" cy="292608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37360" y="291693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Admin 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264408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Calibri"/>
              </a:rPr>
              <a:t>Admin Research Arena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776472"/>
            <a:ext cx="9601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Admin reviews proposals with AI scores and must approve or reject. Score visibility and button order are critical.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6052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D0D8"/>
                </a:solidFill>
                <a:latin typeface="Calibri"/>
              </a:rPr>
              <a:t>Key question: Are users looking at the right things at the right time?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63440"/>
            <a:ext cx="11430000" cy="1691640"/>
          </a:xfrm>
          <a:prstGeom prst="rect">
            <a:avLst/>
          </a:prstGeom>
          <a:solidFill>
            <a:srgbClr val="F3EE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4663440"/>
            <a:ext cx="1188720" cy="1691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5120640"/>
            <a:ext cx="1188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91640" y="4773168"/>
            <a:ext cx="1371600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737360" y="4791455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Student 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138927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3AED"/>
                </a:solidFill>
                <a:latin typeface="Calibri"/>
              </a:rPr>
              <a:t>Student Skills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650992"/>
            <a:ext cx="9601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Skill management and skill gap analysis share the page. Gap analysis is the most valuable feature but predicted to be the most ignored.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603504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D0D8"/>
                </a:solidFill>
                <a:latin typeface="Calibri"/>
              </a:rPr>
              <a:t>Key question: Are users looking at the right things at the right time?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D0D8"/>
                </a:solidFill>
                <a:latin typeface="Calibri"/>
              </a:rPr>
              <a:t>Analysis method: Predict entry points, scan paths and fixation density using visual weight, contrast, size and position principles.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SCREEN 1 — RESEARCH ARENA (Student View)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Fixation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5943600" cy="5806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D0D8"/>
                </a:solidFill>
                <a:latin typeface="Calibri"/>
              </a:rPr>
              <a:t>Screen Mockup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960120" cy="54406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132588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138988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Home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103120"/>
            <a:ext cx="91440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216712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Arena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8036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4048" y="294436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Skills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65760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" y="372160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Log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443484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4048" y="449884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Bell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17320" y="1261872"/>
            <a:ext cx="4709160" cy="1234440"/>
          </a:xfrm>
          <a:prstGeom prst="rect">
            <a:avLst/>
          </a:prstGeom>
          <a:solidFill>
            <a:srgbClr val="E8F4FD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08760" y="132588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295C"/>
                </a:solidFill>
                <a:latin typeface="Calibri"/>
              </a:rPr>
              <a:t>AI in Healthcare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Deadline: 2025-07-01  •  Required Skills: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08760" y="1965960"/>
            <a:ext cx="1371600" cy="27432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19842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71800" y="1965960"/>
            <a:ext cx="1371600" cy="27432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17520" y="19842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ML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1965960"/>
            <a:ext cx="1371600" cy="27432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80559" y="198424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Data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17320" y="2359152"/>
            <a:ext cx="4709160" cy="256032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508760" y="2377440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B703"/>
                </a:solidFill>
                <a:latin typeface="Calibri"/>
              </a:rPr>
              <a:t>↓ Start with a template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2651760"/>
            <a:ext cx="1463040" cy="320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417320" y="26791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Research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71800" y="2651760"/>
            <a:ext cx="1463040" cy="32004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71800" y="26791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Technical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2651760"/>
            <a:ext cx="1463040" cy="3200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26280" y="26791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Problem-Solving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17320" y="3035808"/>
            <a:ext cx="4709160" cy="1188720"/>
          </a:xfrm>
          <a:prstGeom prst="rect">
            <a:avLst/>
          </a:prstGeom>
          <a:solidFill>
            <a:srgbClr val="F8F9FA"/>
          </a:solidFill>
          <a:ln w="12700">
            <a:solidFill>
              <a:srgbClr val="CCD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508760" y="3154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CD0D8"/>
                </a:solidFill>
                <a:latin typeface="Calibri"/>
              </a:rPr>
              <a:t>Click a template or write your proposal here...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17320" y="4297680"/>
            <a:ext cx="4709160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417320" y="4325112"/>
            <a:ext cx="4709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Submit Proposal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17320" y="4754880"/>
            <a:ext cx="4709160" cy="548640"/>
          </a:xfrm>
          <a:prstGeom prst="rect">
            <a:avLst/>
          </a:prstGeom>
          <a:solidFill>
            <a:srgbClr val="E6FBF4"/>
          </a:solidFill>
          <a:ln w="254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508760" y="48920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D6A0"/>
                </a:solidFill>
                <a:latin typeface="Calibri"/>
              </a:rPr>
              <a:t>AI Score: 82/100 — Strong ✓</a:t>
            </a:r>
          </a:p>
        </p:txBody>
      </p:sp>
      <p:sp>
        <p:nvSpPr>
          <p:cNvPr id="42" name="Oval 41"/>
          <p:cNvSpPr/>
          <p:nvPr/>
        </p:nvSpPr>
        <p:spPr>
          <a:xfrm>
            <a:off x="1417320" y="1261872"/>
            <a:ext cx="640080" cy="448055"/>
          </a:xfrm>
          <a:prstGeom prst="ellipse">
            <a:avLst/>
          </a:prstGeom>
          <a:solidFill>
            <a:srgbClr val="FF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417320" y="1261872"/>
            <a:ext cx="411480" cy="288036"/>
          </a:xfrm>
          <a:prstGeom prst="ellipse">
            <a:avLst/>
          </a:prstGeom>
          <a:solidFill>
            <a:srgbClr val="FF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417320" y="1261872"/>
            <a:ext cx="228600" cy="160020"/>
          </a:xfrm>
          <a:prstGeom prst="ellipse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3200400" y="4224528"/>
            <a:ext cx="502920" cy="301752"/>
          </a:xfrm>
          <a:prstGeom prst="ellipse">
            <a:avLst/>
          </a:prstGeom>
          <a:solidFill>
            <a:srgbClr val="FFD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3200400" y="4224528"/>
            <a:ext cx="274320" cy="164592"/>
          </a:xfrm>
          <a:prstGeom prst="ellipse">
            <a:avLst/>
          </a:prstGeom>
          <a:solidFill>
            <a:srgbClr val="FFB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828800" y="2578608"/>
            <a:ext cx="274320" cy="201168"/>
          </a:xfrm>
          <a:prstGeom prst="ellipse">
            <a:avLst/>
          </a:prstGeom>
          <a:solidFill>
            <a:srgbClr val="FFE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1463040" y="4736592"/>
            <a:ext cx="164592" cy="128016"/>
          </a:xfrm>
          <a:prstGeom prst="ellipse">
            <a:avLst/>
          </a:prstGeom>
          <a:solidFill>
            <a:srgbClr val="CCF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212080" y="502920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A4A5A"/>
                </a:solidFill>
                <a:latin typeface="Calibri"/>
              </a:rPr>
              <a:t>Heat Intensity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37960" y="896112"/>
            <a:ext cx="5303520" cy="1298448"/>
          </a:xfrm>
          <a:prstGeom prst="rect">
            <a:avLst/>
          </a:prstGeom>
          <a:solidFill>
            <a:srgbClr val="E8F4FD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537960" y="896112"/>
            <a:ext cx="73152" cy="12984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748272" y="9875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  <a:latin typeface="Calibri"/>
              </a:rPr>
              <a:t>Entry 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8272" y="1426464"/>
            <a:ext cx="4892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Challenge title (bold, top-left, large font) — receives highest predicted fixation count.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37960" y="2359152"/>
            <a:ext cx="5303520" cy="1298448"/>
          </a:xfrm>
          <a:prstGeom prst="rect">
            <a:avLst/>
          </a:prstGeom>
          <a:solidFill>
            <a:srgbClr val="FFEEEE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537960" y="2359152"/>
            <a:ext cx="73152" cy="129844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748272" y="24505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6B"/>
                </a:solidFill>
                <a:latin typeface="Calibri"/>
              </a:rPr>
              <a:t>Problem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8272" y="2889504"/>
            <a:ext cx="4892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Template buttons are small and below skill tags. Predicted to be skipped — users go straight to typing.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37960" y="3822191"/>
            <a:ext cx="5303520" cy="1298448"/>
          </a:xfrm>
          <a:prstGeom prst="rect">
            <a:avLst/>
          </a:prstGeom>
          <a:solidFill>
            <a:srgbClr val="FFF8E1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537960" y="3822191"/>
            <a:ext cx="73152" cy="1298448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748272" y="3913631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B703"/>
                </a:solidFill>
                <a:latin typeface="Calibri"/>
              </a:rPr>
              <a:t>Problem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48272" y="4352544"/>
            <a:ext cx="4892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Submit button (high contrast purple) fixated before proposal is written — reverse of intended workflow.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37960" y="5285232"/>
            <a:ext cx="5303520" cy="1298448"/>
          </a:xfrm>
          <a:prstGeom prst="rect">
            <a:avLst/>
          </a:prstGeom>
          <a:solidFill>
            <a:srgbClr val="FFEEEE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537960" y="5285232"/>
            <a:ext cx="73152" cy="129844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748272" y="53766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6B"/>
                </a:solidFill>
                <a:latin typeface="Calibri"/>
              </a:rPr>
              <a:t>Problem 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48272" y="5815584"/>
            <a:ext cx="4892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AI Score is below the textarea — below fold. Predicted fixation count: near zero. Feature is invisible.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37960" y="64922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D0D8"/>
                </a:solidFill>
                <a:latin typeface="Calibri"/>
              </a:rPr>
              <a:t>Predicted scan path: Title → Submit Button → Textarea → (templates &amp; score missed)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770382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SCREEN 2 — ADMIN RESEARCH ARENA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5943600" cy="5806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D0D8"/>
                </a:solidFill>
                <a:latin typeface="Calibri"/>
              </a:rPr>
              <a:t>Admin Arena Mockup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960120" cy="54406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132588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38988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Home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10312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216712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Students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880360"/>
            <a:ext cx="91440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294436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Arena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365760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372160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443484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449884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Bell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1298448"/>
            <a:ext cx="47091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08760" y="13716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295C"/>
                </a:solidFill>
                <a:latin typeface="Calibri"/>
              </a:rPr>
              <a:t>Alice Johnson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17099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AI in Healthcare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1389888"/>
            <a:ext cx="822960" cy="457200"/>
          </a:xfrm>
          <a:prstGeom prst="rect">
            <a:avLst/>
          </a:prstGeom>
          <a:solidFill>
            <a:srgbClr val="F8F9FA"/>
          </a:solidFill>
          <a:ln w="254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0" y="13898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D6A0"/>
                </a:solidFill>
                <a:latin typeface="Calibri"/>
              </a:rPr>
              <a:t>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1682495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D0D8"/>
                </a:solidFill>
                <a:latin typeface="Calibri"/>
              </a:rPr>
              <a:t>AI Score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08760" y="2121408"/>
            <a:ext cx="146304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08760" y="21488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121408"/>
            <a:ext cx="1371600" cy="347472"/>
          </a:xfrm>
          <a:prstGeom prst="rect">
            <a:avLst/>
          </a:prstGeom>
          <a:solidFill>
            <a:srgbClr val="F8F9FA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6324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6B6B"/>
                </a:solidFill>
                <a:latin typeface="Calibri"/>
              </a:rPr>
              <a:t>Reject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17320" y="2807208"/>
            <a:ext cx="47091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508760" y="28803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295C"/>
                </a:solidFill>
                <a:latin typeface="Calibri"/>
              </a:rPr>
              <a:t>Bob Smith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32186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NLP Research Tool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2898648"/>
            <a:ext cx="822960" cy="457200"/>
          </a:xfrm>
          <a:prstGeom prst="rect">
            <a:avLst/>
          </a:prstGeom>
          <a:solidFill>
            <a:srgbClr val="F8F9FA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0" y="289864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B703"/>
                </a:solidFill>
                <a:latin typeface="Calibri"/>
              </a:rPr>
              <a:t>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31912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D0D8"/>
                </a:solidFill>
                <a:latin typeface="Calibri"/>
              </a:rPr>
              <a:t>AI Score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08760" y="3630168"/>
            <a:ext cx="146304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08760" y="36576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63240" y="3630168"/>
            <a:ext cx="1371600" cy="347472"/>
          </a:xfrm>
          <a:prstGeom prst="rect">
            <a:avLst/>
          </a:prstGeom>
          <a:solidFill>
            <a:srgbClr val="F8F9FA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063240" y="3657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6B6B"/>
                </a:solidFill>
                <a:latin typeface="Calibri"/>
              </a:rPr>
              <a:t>Reject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17320" y="4315968"/>
            <a:ext cx="47091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508760" y="43891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295C"/>
                </a:solidFill>
                <a:latin typeface="Calibri"/>
              </a:rPr>
              <a:t>Sara Lee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08760" y="47274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Cybersecurity Framework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0" y="4407407"/>
            <a:ext cx="822960" cy="457200"/>
          </a:xfrm>
          <a:prstGeom prst="rect">
            <a:avLst/>
          </a:prstGeom>
          <a:solidFill>
            <a:srgbClr val="F8F9FA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0" y="4407407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Calibr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70001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CCD0D8"/>
                </a:solidFill>
                <a:latin typeface="Calibri"/>
              </a:rPr>
              <a:t>AI Score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08760" y="5138928"/>
            <a:ext cx="146304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508760" y="5166359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63240" y="5138928"/>
            <a:ext cx="1371600" cy="347472"/>
          </a:xfrm>
          <a:prstGeom prst="rect">
            <a:avLst/>
          </a:prstGeom>
          <a:solidFill>
            <a:srgbClr val="F8F9FA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063240" y="516635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6B6B"/>
                </a:solidFill>
                <a:latin typeface="Calibri"/>
              </a:rPr>
              <a:t>Reject</a:t>
            </a:r>
          </a:p>
        </p:txBody>
      </p:sp>
      <p:sp>
        <p:nvSpPr>
          <p:cNvPr id="48" name="Oval 47"/>
          <p:cNvSpPr/>
          <p:nvPr/>
        </p:nvSpPr>
        <p:spPr>
          <a:xfrm>
            <a:off x="1417320" y="1298448"/>
            <a:ext cx="594360" cy="416051"/>
          </a:xfrm>
          <a:prstGeom prst="ellipse">
            <a:avLst/>
          </a:prstGeom>
          <a:solidFill>
            <a:srgbClr val="FF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417320" y="2807208"/>
            <a:ext cx="365760" cy="256031"/>
          </a:xfrm>
          <a:prstGeom prst="ellipse">
            <a:avLst/>
          </a:prstGeom>
          <a:solidFill>
            <a:srgbClr val="FFC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481328" y="2121408"/>
            <a:ext cx="457200" cy="320040"/>
          </a:xfrm>
          <a:prstGeom prst="ellipse">
            <a:avLst/>
          </a:prstGeom>
          <a:solidFill>
            <a:srgbClr val="FFD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029200" y="1389888"/>
            <a:ext cx="164592" cy="115214"/>
          </a:xfrm>
          <a:prstGeom prst="ellipse">
            <a:avLst/>
          </a:prstGeom>
          <a:solidFill>
            <a:srgbClr val="CCF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537960" y="896112"/>
            <a:ext cx="5303520" cy="1298448"/>
          </a:xfrm>
          <a:prstGeom prst="rect">
            <a:avLst/>
          </a:prstGeom>
          <a:solidFill>
            <a:srgbClr val="E8F4FD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537960" y="896112"/>
            <a:ext cx="73152" cy="12984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748272" y="9875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  <a:latin typeface="Calibri"/>
              </a:rPr>
              <a:t>Entry 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8272" y="1399032"/>
            <a:ext cx="4892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Student name dominates — bold, 12pt, top-left of each row. Admin begins here for every proposal.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37960" y="2359152"/>
            <a:ext cx="5303520" cy="1298448"/>
          </a:xfrm>
          <a:prstGeom prst="rect">
            <a:avLst/>
          </a:prstGeom>
          <a:solidFill>
            <a:srgbClr val="FFEEEE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537960" y="2359152"/>
            <a:ext cx="73152" cy="129844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748272" y="24505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6B"/>
                </a:solidFill>
                <a:latin typeface="Calibri"/>
              </a:rPr>
              <a:t>Critical Issue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48272" y="2862072"/>
            <a:ext cx="4892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AI Score badge (top-right, small) is predicted to receive near-zero fixation. F-pattern reading ends before the right column.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37960" y="3822191"/>
            <a:ext cx="5303520" cy="1298448"/>
          </a:xfrm>
          <a:prstGeom prst="rect">
            <a:avLst/>
          </a:prstGeom>
          <a:solidFill>
            <a:srgbClr val="FFF8E1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537960" y="3822191"/>
            <a:ext cx="73152" cy="1298448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748272" y="3913631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B703"/>
                </a:solidFill>
                <a:latin typeface="Calibri"/>
              </a:rPr>
              <a:t>Workflow Risk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48272" y="4325112"/>
            <a:ext cx="4892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Approve button (solid green, high contrast) is fixated before the proposal text is read. Admin may approve without checking content.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37960" y="5285232"/>
            <a:ext cx="5303520" cy="1298448"/>
          </a:xfrm>
          <a:prstGeom prst="rect">
            <a:avLst/>
          </a:prstGeom>
          <a:solidFill>
            <a:srgbClr val="F3EE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6537960" y="5285232"/>
            <a:ext cx="73152" cy="12984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748272" y="53766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Scan Path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48272" y="5788152"/>
            <a:ext cx="4892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Name → Approve → Reject → Challenge name → (AI Score completely missed in F-pattern)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SCREEN 3 — STUDENT SKILLS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5943600" cy="5806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D0D8"/>
                </a:solidFill>
                <a:latin typeface="Calibri"/>
              </a:rPr>
              <a:t>Skills Page Mockup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960120" cy="54406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132588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138988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Home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10312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216712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Arena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880360"/>
            <a:ext cx="914400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294436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Skills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365760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372160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4434840"/>
            <a:ext cx="914400" cy="64008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4498848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A4A5A"/>
                </a:solidFill>
                <a:latin typeface="Calibri"/>
              </a:rPr>
              <a:t>Bell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12984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Profile Completeness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08760" y="1572768"/>
            <a:ext cx="4572000" cy="164592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508760" y="1572768"/>
            <a:ext cx="3200400" cy="16459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33872" y="1536192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6D6A0"/>
                </a:solidFill>
                <a:latin typeface="Calibri"/>
              </a:rPr>
              <a:t>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184708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A295C"/>
                </a:solidFill>
                <a:latin typeface="Calibri"/>
              </a:rPr>
              <a:t>My Skills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2240280"/>
            <a:ext cx="3749039" cy="438912"/>
          </a:xfrm>
          <a:prstGeom prst="rect">
            <a:avLst/>
          </a:prstGeom>
          <a:solidFill>
            <a:srgbClr val="F8F9FA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600200" y="23134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95C"/>
                </a:solidFill>
                <a:latin typeface="Calibri"/>
              </a:rPr>
              <a:t>Python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2322576"/>
            <a:ext cx="868680" cy="27432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51959" y="2340864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Exp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08760" y="2770632"/>
            <a:ext cx="3749039" cy="438912"/>
          </a:xfrm>
          <a:prstGeom prst="rect">
            <a:avLst/>
          </a:prstGeom>
          <a:solidFill>
            <a:srgbClr val="F8F9FA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00200" y="284378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95C"/>
                </a:solidFill>
                <a:latin typeface="Calibri"/>
              </a:rPr>
              <a:t>Machine Learning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2852928"/>
            <a:ext cx="868680" cy="2743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51959" y="2871216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Adv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08760" y="3300984"/>
            <a:ext cx="3749039" cy="438912"/>
          </a:xfrm>
          <a:prstGeom prst="rect">
            <a:avLst/>
          </a:prstGeom>
          <a:solidFill>
            <a:srgbClr val="F8F9FA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00200" y="337413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95C"/>
                </a:solidFill>
                <a:latin typeface="Calibri"/>
              </a:rPr>
              <a:t>Data Analysis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06240" y="3383280"/>
            <a:ext cx="868680" cy="274320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251959" y="3401568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Int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08760" y="3831335"/>
            <a:ext cx="3749039" cy="438912"/>
          </a:xfrm>
          <a:prstGeom prst="rect">
            <a:avLst/>
          </a:prstGeom>
          <a:solidFill>
            <a:srgbClr val="F8F9FA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00200" y="3904487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95C"/>
                </a:solidFill>
                <a:latin typeface="Calibri"/>
              </a:rPr>
              <a:t>Linux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06240" y="3913631"/>
            <a:ext cx="868680" cy="274320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51959" y="3931919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Beg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08760" y="4407408"/>
            <a:ext cx="457200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508760" y="4434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+ Add Skill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08760" y="4892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B703"/>
                </a:solidFill>
                <a:latin typeface="Calibri"/>
              </a:rPr>
              <a:t>Skill Gap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23036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A4A5A"/>
                </a:solidFill>
                <a:latin typeface="Calibri"/>
              </a:rPr>
              <a:t>NLP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4640" y="5285231"/>
            <a:ext cx="3154680" cy="13716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508760" y="550468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A4A5A"/>
                </a:solidFill>
                <a:latin typeface="Calibri"/>
              </a:rPr>
              <a:t>Networking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34640" y="5559551"/>
            <a:ext cx="3154680" cy="13716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508760" y="5779007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4A4A5A"/>
                </a:solidFill>
                <a:latin typeface="Calibri"/>
              </a:rPr>
              <a:t>Cybersecurity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34640" y="5833871"/>
            <a:ext cx="3154680" cy="137160"/>
          </a:xfrm>
          <a:prstGeom prst="rect">
            <a:avLst/>
          </a:prstGeom>
          <a:solidFill>
            <a:srgbClr val="EE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834640" y="5833871"/>
            <a:ext cx="946403" cy="13716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481328" y="2176272"/>
            <a:ext cx="548640" cy="384048"/>
          </a:xfrm>
          <a:prstGeom prst="ellipse">
            <a:avLst/>
          </a:prstGeom>
          <a:solidFill>
            <a:srgbClr val="FF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481328" y="1810512"/>
            <a:ext cx="411480" cy="288036"/>
          </a:xfrm>
          <a:prstGeom prst="ellipse">
            <a:avLst/>
          </a:prstGeom>
          <a:solidFill>
            <a:srgbClr val="FFBB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1481328" y="2697480"/>
            <a:ext cx="274320" cy="192024"/>
          </a:xfrm>
          <a:prstGeom prst="ellipse">
            <a:avLst/>
          </a:prstGeom>
          <a:solidFill>
            <a:srgbClr val="FFD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4160520" y="4343400"/>
            <a:ext cx="228600" cy="160020"/>
          </a:xfrm>
          <a:prstGeom prst="ellipse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481328" y="4864608"/>
            <a:ext cx="91440" cy="64007"/>
          </a:xfrm>
          <a:prstGeom prst="ellipse">
            <a:avLst/>
          </a:prstGeom>
          <a:solidFill>
            <a:srgbClr val="EEFF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537960" y="896112"/>
            <a:ext cx="5303520" cy="1298448"/>
          </a:xfrm>
          <a:prstGeom prst="rect">
            <a:avLst/>
          </a:prstGeom>
          <a:solidFill>
            <a:srgbClr val="F3EE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537960" y="896112"/>
            <a:ext cx="73152" cy="12984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748272" y="9875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Entry Point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8272" y="1399032"/>
            <a:ext cx="4892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First skill card (Python — Expert) gets maximum fixation. Large text, top position, high contrast.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37960" y="2359152"/>
            <a:ext cx="5303520" cy="1298448"/>
          </a:xfrm>
          <a:prstGeom prst="rect">
            <a:avLst/>
          </a:prstGeom>
          <a:solidFill>
            <a:srgbClr val="FFEEEE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537960" y="2359152"/>
            <a:ext cx="73152" cy="129844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748272" y="24791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6B"/>
                </a:solidFill>
                <a:latin typeface="Calibri"/>
              </a:rPr>
              <a:t>Completeness Bar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48272" y="2862072"/>
            <a:ext cx="4892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5A"/>
                </a:solidFill>
                <a:latin typeface="Calibri"/>
              </a:rPr>
              <a:t>Thin strip, low contrast. Predicted fixation: zero. Provides no feedback value as currently designed.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37960" y="3822191"/>
            <a:ext cx="5303520" cy="1298448"/>
          </a:xfrm>
          <a:prstGeom prst="rect">
            <a:avLst/>
          </a:prstGeom>
          <a:solidFill>
            <a:srgbClr val="FFEEEE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537960" y="3822191"/>
            <a:ext cx="73152" cy="129844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748272" y="3913631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6B"/>
                </a:solidFill>
                <a:latin typeface="Calibri"/>
              </a:rPr>
              <a:t>Biggest Problem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48272" y="4325112"/>
            <a:ext cx="4892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4A4A5A"/>
                </a:solidFill>
                <a:latin typeface="Calibri"/>
              </a:rPr>
              <a:t>Skill Gap Analysis appears below the skill list — predicted below the fold. Near-zero fixation. The most useful feature on the page is completely invisible.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7960" y="5285232"/>
            <a:ext cx="5303520" cy="1298448"/>
          </a:xfrm>
          <a:prstGeom prst="rect">
            <a:avLst/>
          </a:prstGeom>
          <a:solidFill>
            <a:srgbClr val="FFF8E1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537960" y="5285232"/>
            <a:ext cx="73152" cy="1298448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748272" y="53766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B703"/>
                </a:solidFill>
                <a:latin typeface="Calibri"/>
              </a:rPr>
              <a:t>Add Skill Competes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48272" y="5788152"/>
            <a:ext cx="4892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4A4A5A"/>
                </a:solidFill>
                <a:latin typeface="Calibri"/>
              </a:rPr>
              <a:t>Add Skill button (purple, solid) draws eye away from gap analysis. Students add skills but don't know which ones challenges need.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THE F-PATTERN — Why Key Features Are Being Missed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4114800" cy="5257800"/>
          </a:xfrm>
          <a:prstGeom prst="rect">
            <a:avLst/>
          </a:prstGeom>
          <a:solidFill>
            <a:srgbClr val="F8F9FA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4A5A"/>
                </a:solidFill>
                <a:latin typeface="Calibri"/>
              </a:rPr>
              <a:t>How Users Actually Read Screens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3749039" cy="502920"/>
          </a:xfrm>
          <a:prstGeom prst="rect">
            <a:avLst/>
          </a:prstGeom>
          <a:solidFill>
            <a:srgbClr val="FF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2560320" cy="384048"/>
          </a:xfrm>
          <a:prstGeom prst="rect">
            <a:avLst/>
          </a:prstGeom>
          <a:solidFill>
            <a:srgbClr val="FFD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2920" cy="2880360"/>
          </a:xfrm>
          <a:prstGeom prst="rect">
            <a:avLst/>
          </a:prstGeom>
          <a:solidFill>
            <a:srgbClr val="FFE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53619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6B6B"/>
                </a:solidFill>
                <a:latin typeface="Calibri"/>
              </a:rPr>
              <a:t>First horizontal sweep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8308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→ 100% attention across full width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585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B703"/>
                </a:solidFill>
                <a:latin typeface="Calibri"/>
              </a:rPr>
              <a:t>Second horizontal sweep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0545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→ Shorter, ~60% of width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85292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CC88"/>
                </a:solidFill>
                <a:latin typeface="Calibri"/>
              </a:rPr>
              <a:t>Left vertical scan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09067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→ Left column only, ~40% attention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40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6B"/>
                </a:solidFill>
                <a:latin typeface="Calibri"/>
              </a:rPr>
              <a:t>RIGHT COLUMN → near-zero fixation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B6B"/>
                </a:solidFill>
                <a:latin typeface="Calibri"/>
              </a:rPr>
              <a:t>BOTTOM OF PAGE → near-zero fixation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6634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5A"/>
                </a:solidFill>
                <a:latin typeface="Calibri"/>
              </a:rPr>
              <a:t>F-pattern research by Nielsen Norman Group shows 80% of time is spent on the left half of a page.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914400"/>
            <a:ext cx="7132320" cy="525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60" y="987552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A4A5A"/>
                </a:solidFill>
                <a:latin typeface="Calibri"/>
              </a:rPr>
              <a:t>F-Pattern Impact on CollabX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1417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A4A5A"/>
                </a:solidFill>
                <a:latin typeface="Calibri"/>
              </a:rPr>
              <a:t>Screen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1417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A4A5A"/>
                </a:solidFill>
                <a:latin typeface="Calibri"/>
              </a:rPr>
              <a:t>Feature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1417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A4A5A"/>
                </a:solidFill>
                <a:latin typeface="Calibri"/>
              </a:rPr>
              <a:t>Current Issue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1417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4A4A5A"/>
                </a:solidFill>
                <a:latin typeface="Calibri"/>
              </a:rPr>
              <a:t>Fix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1709928"/>
            <a:ext cx="699516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92040" y="1783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Research Arena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59" y="1783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AI Score (right-aligned, bottom)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9" y="1783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6B6B"/>
                </a:solidFill>
                <a:latin typeface="Calibri"/>
              </a:rPr>
              <a:t>Invisible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1783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6D6A0"/>
                </a:solidFill>
                <a:latin typeface="Calibri"/>
              </a:rPr>
              <a:t>Move to left column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23774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Research Arena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59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Template buttons (centre-row)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59" y="23774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B703"/>
                </a:solidFill>
                <a:latin typeface="Calibri"/>
              </a:rPr>
              <a:t>Often missed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23774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6D6A0"/>
                </a:solidFill>
                <a:latin typeface="Calibri"/>
              </a:rPr>
              <a:t>Full-width, labelled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00600" y="2898648"/>
            <a:ext cx="699516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892040" y="2971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Admin Arena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AI Score badge (top-right)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59" y="2971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6B6B"/>
                </a:solidFill>
                <a:latin typeface="Calibri"/>
              </a:rPr>
              <a:t>Near-zero fixation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29718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6D6A0"/>
                </a:solidFill>
                <a:latin typeface="Calibri"/>
              </a:rPr>
              <a:t>Move below student name (left)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92040" y="3566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Admin Arena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59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Proposal text (centre)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59" y="3566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B703"/>
                </a:solidFill>
                <a:latin typeface="Calibri"/>
              </a:rPr>
              <a:t>Read after action buttons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12680" y="3566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6D6A0"/>
                </a:solidFill>
                <a:latin typeface="Calibri"/>
              </a:rPr>
              <a:t>Reveal after click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00600" y="4087368"/>
            <a:ext cx="699516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892040" y="41605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Skills Page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59" y="4160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Skill gap analysis (bottom)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59" y="41605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6B6B"/>
                </a:solidFill>
                <a:latin typeface="Calibri"/>
              </a:rPr>
              <a:t>Invisible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41605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6D6A0"/>
                </a:solidFill>
                <a:latin typeface="Calibri"/>
              </a:rPr>
              <a:t>Move to top of page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Skills Page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59" y="4754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Completeness bar (thin top)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B703"/>
                </a:solidFill>
                <a:latin typeface="Calibri"/>
              </a:rPr>
              <a:t>Ignored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6D6A0"/>
                </a:solidFill>
                <a:latin typeface="Calibri"/>
              </a:rPr>
              <a:t>Large circular indicator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00600" y="5276088"/>
            <a:ext cx="699516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9204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All screens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59" y="53492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Right-column content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66759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9900"/>
                </a:solidFill>
                <a:latin typeface="Calibri"/>
              </a:rPr>
              <a:t>Low attention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5349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6D6A0"/>
                </a:solidFill>
                <a:latin typeface="Calibri"/>
              </a:rPr>
              <a:t>Shift critical info left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DESIGN IMPROVEMENTS — Before vs After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57784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914400"/>
            <a:ext cx="5577840" cy="43891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987552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Template Buttons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05840"/>
            <a:ext cx="1051560" cy="274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00600" y="1024128"/>
            <a:ext cx="9601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B4D8"/>
                </a:solidFill>
                <a:latin typeface="Calibri"/>
              </a:rPr>
              <a:t>Research Arena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1444752"/>
            <a:ext cx="2468880" cy="256032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453895"/>
            <a:ext cx="685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6B6B"/>
                </a:solidFill>
                <a:latin typeface="Calibri"/>
              </a:rPr>
              <a:t>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373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Small outline buttons, low contrast, labelled only by style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162763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444752"/>
            <a:ext cx="2468880" cy="256032"/>
          </a:xfrm>
          <a:prstGeom prst="rect">
            <a:avLst/>
          </a:prstGeom>
          <a:solidFill>
            <a:srgbClr val="E6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91840" y="1453895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6D6A0"/>
                </a:solidFill>
                <a:latin typeface="Calibri"/>
              </a:rPr>
              <a:t>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7373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Full-width coloured buttons with 'Start with a template ↓' label. Eye drawn immediately.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914400"/>
            <a:ext cx="557784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914400"/>
            <a:ext cx="5577840" cy="43891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987552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AI Score (Student)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98480" y="1005840"/>
            <a:ext cx="1051560" cy="274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44200" y="1024128"/>
            <a:ext cx="9601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6D6A0"/>
                </a:solidFill>
                <a:latin typeface="Calibri"/>
              </a:rPr>
              <a:t>Research Arena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19088" y="1444752"/>
            <a:ext cx="2468880" cy="256032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1453895"/>
            <a:ext cx="685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6B6B"/>
                </a:solidFill>
                <a:latin typeface="Calibri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17373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Appears below fold after submission. Predicted fixation: zero.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162763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6D6A0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1444752"/>
            <a:ext cx="2468880" cy="256032"/>
          </a:xfrm>
          <a:prstGeom prst="rect">
            <a:avLst/>
          </a:prstGeom>
          <a:solidFill>
            <a:srgbClr val="E6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35440" y="1453895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6D6A0"/>
                </a:solidFill>
                <a:latin typeface="Calibri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17373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Live score panel beside textarea. Updates as user types. Always visible at eye level.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834640"/>
            <a:ext cx="557784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2834640"/>
            <a:ext cx="5577840" cy="43891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2907792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AI Score (Admin)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0" y="2926080"/>
            <a:ext cx="1051560" cy="274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00600" y="2944368"/>
            <a:ext cx="9601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6B6B"/>
                </a:solidFill>
                <a:latin typeface="Calibri"/>
              </a:rPr>
              <a:t>Admin Arena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3364992"/>
            <a:ext cx="2468880" cy="256032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5488" y="3374136"/>
            <a:ext cx="685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6B6B"/>
                </a:solidFill>
                <a:latin typeface="Calibri"/>
              </a:rPr>
              <a:t>BEFORE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365760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Small badge, top-right. Skipped by F-pattern entirely.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54787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6B6B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3364992"/>
            <a:ext cx="2468880" cy="256032"/>
          </a:xfrm>
          <a:prstGeom prst="rect">
            <a:avLst/>
          </a:prstGeom>
          <a:solidFill>
            <a:srgbClr val="E6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91840" y="3374136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6D6A0"/>
                </a:solidFill>
                <a:latin typeface="Calibri"/>
              </a:rPr>
              <a:t>AFTER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91840" y="365760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Large number left-aligned under student name. In primary F-pattern scan zone.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834640"/>
            <a:ext cx="557784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2834640"/>
            <a:ext cx="5577840" cy="4389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2907792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Skill Gap Analysis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698480" y="2926080"/>
            <a:ext cx="1051560" cy="274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744200" y="2944368"/>
            <a:ext cx="9601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7C3AED"/>
                </a:solidFill>
                <a:latin typeface="Calibri"/>
              </a:rPr>
              <a:t>Skills Page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19088" y="3364992"/>
            <a:ext cx="2468880" cy="256032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19088" y="3374136"/>
            <a:ext cx="685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6B6B"/>
                </a:solidFill>
                <a:latin typeface="Calibri"/>
              </a:rPr>
              <a:t>BEFORE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9088" y="365760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Below skill list, below fold. Near-zero fixation. Feature effectively invisible.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0" y="354787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7C3AED"/>
                </a:solidFill>
                <a:latin typeface="Calibri"/>
              </a:rPr>
              <a:t>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35440" y="3364992"/>
            <a:ext cx="2468880" cy="256032"/>
          </a:xfrm>
          <a:prstGeom prst="rect">
            <a:avLst/>
          </a:prstGeom>
          <a:solidFill>
            <a:srgbClr val="E6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35440" y="3374136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6D6A0"/>
                </a:solidFill>
                <a:latin typeface="Calibri"/>
              </a:rPr>
              <a:t>AFTER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65760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Moved to top of page in highlighted card. 'Skills needed for challenges' heading drives attention.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754880"/>
            <a:ext cx="557784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65760" y="4754880"/>
            <a:ext cx="5577840" cy="438912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02920" y="4828032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Approve Workflow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754880" y="4846320"/>
            <a:ext cx="1051560" cy="274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800600" y="4864607"/>
            <a:ext cx="9601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B703"/>
                </a:solidFill>
                <a:latin typeface="Calibri"/>
              </a:rPr>
              <a:t>Admin Arena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" y="5285232"/>
            <a:ext cx="2468880" cy="256032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5488" y="5294376"/>
            <a:ext cx="685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6B6B"/>
                </a:solidFill>
                <a:latin typeface="Calibri"/>
              </a:rPr>
              <a:t>BEFORE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" y="557784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Approve button fixated before proposal content is read. Risk of unconsidered approval.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7520" y="546811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B703"/>
                </a:solidFill>
                <a:latin typeface="Calibri"/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91840" y="5285232"/>
            <a:ext cx="2468880" cy="256032"/>
          </a:xfrm>
          <a:prstGeom prst="rect">
            <a:avLst/>
          </a:prstGeom>
          <a:solidFill>
            <a:srgbClr val="E6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291840" y="5294376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6D6A0"/>
                </a:solidFill>
                <a:latin typeface="Calibri"/>
              </a:rPr>
              <a:t>AFTER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1840" y="557784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Sequential reveal: admin reads proposal, then Approve button appears. Controls scan path.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4754880"/>
            <a:ext cx="557784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EF0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6309360" y="4754880"/>
            <a:ext cx="5577840" cy="43891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446520" y="4828032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Completeness Bar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698480" y="4846320"/>
            <a:ext cx="1051560" cy="274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744200" y="4864607"/>
            <a:ext cx="9601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B4D8"/>
                </a:solidFill>
                <a:latin typeface="Calibri"/>
              </a:rPr>
              <a:t>Skills Page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19088" y="5285232"/>
            <a:ext cx="2468880" cy="256032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419088" y="5294376"/>
            <a:ext cx="685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FF6B6B"/>
                </a:solidFill>
                <a:latin typeface="Calibri"/>
              </a:rPr>
              <a:t>BEFORE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19088" y="557784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Thin horizontal strip, low contrast. Zero predicted fixations.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61120" y="546811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35440" y="5285232"/>
            <a:ext cx="2468880" cy="256032"/>
          </a:xfrm>
          <a:prstGeom prst="rect">
            <a:avLst/>
          </a:prstGeom>
          <a:solidFill>
            <a:srgbClr val="E6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235440" y="5294376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06D6A0"/>
                </a:solidFill>
                <a:latin typeface="Calibri"/>
              </a:rPr>
              <a:t>AFTER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557784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5A"/>
                </a:solidFill>
                <a:latin typeface="Calibri"/>
              </a:rPr>
              <a:t>Large circular progress ring, top-right position, with percentage and colour coding.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52628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A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REFLECTION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486400" cy="2633472"/>
          </a:xfrm>
          <a:prstGeom prst="rect">
            <a:avLst/>
          </a:prstGeom>
          <a:solidFill>
            <a:srgbClr val="E8F4FD"/>
          </a:solidFill>
          <a:ln w="254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73152" cy="2633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40080" y="1051560"/>
            <a:ext cx="502920" cy="50292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0515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4D8"/>
                </a:solidFill>
                <a:latin typeface="Calibri"/>
              </a:rPr>
              <a:t>What Eye-Tracking Revealed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572768"/>
            <a:ext cx="50749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4A4A5A"/>
                </a:solidFill>
                <a:latin typeface="Calibri"/>
              </a:rPr>
              <a:t>Before this analysis, </a:t>
            </a:r>
            <a:r>
              <a:rPr sz="1100" b="0" dirty="0" err="1">
                <a:solidFill>
                  <a:srgbClr val="4A4A5A"/>
                </a:solidFill>
                <a:latin typeface="Calibri"/>
              </a:rPr>
              <a:t>CollabX</a:t>
            </a:r>
            <a:r>
              <a:rPr sz="1100" b="0" dirty="0">
                <a:solidFill>
                  <a:srgbClr val="4A4A5A"/>
                </a:solidFill>
                <a:latin typeface="Calibri"/>
              </a:rPr>
              <a:t> was built with a </a:t>
            </a:r>
            <a:r>
              <a:rPr lang="fi-FI" sz="1100" dirty="0" err="1">
                <a:solidFill>
                  <a:srgbClr val="4A4A5A"/>
                </a:solidFill>
                <a:latin typeface="Calibri"/>
              </a:rPr>
              <a:t>user’s</a:t>
            </a:r>
            <a:r>
              <a:rPr lang="fi-FI" sz="1100" dirty="0">
                <a:solidFill>
                  <a:srgbClr val="4A4A5A"/>
                </a:solidFill>
                <a:latin typeface="Calibri"/>
              </a:rPr>
              <a:t> </a:t>
            </a:r>
            <a:r>
              <a:rPr sz="1100" b="0" dirty="0">
                <a:solidFill>
                  <a:srgbClr val="4A4A5A"/>
                </a:solidFill>
                <a:latin typeface="Calibri"/>
              </a:rPr>
              <a:t>mental model. Features were implemented — AI Score, template buttons, skill gap analysis — but eye-tracking thinking revealed they exist in code, </a:t>
            </a:r>
            <a:r>
              <a:rPr lang="fi-FI" sz="1100" b="0" dirty="0" err="1">
                <a:solidFill>
                  <a:srgbClr val="4A4A5A"/>
                </a:solidFill>
                <a:latin typeface="Calibri"/>
              </a:rPr>
              <a:t>but</a:t>
            </a:r>
            <a:r>
              <a:rPr lang="fi-FI" sz="1100" b="0" dirty="0">
                <a:solidFill>
                  <a:srgbClr val="4A4A5A"/>
                </a:solidFill>
                <a:latin typeface="Calibri"/>
              </a:rPr>
              <a:t> </a:t>
            </a:r>
            <a:r>
              <a:rPr lang="fi-FI" sz="1100" b="0" dirty="0" err="1">
                <a:solidFill>
                  <a:srgbClr val="4A4A5A"/>
                </a:solidFill>
                <a:latin typeface="Calibri"/>
              </a:rPr>
              <a:t>were</a:t>
            </a:r>
            <a:r>
              <a:rPr lang="fi-FI" sz="1100" b="0" dirty="0">
                <a:solidFill>
                  <a:srgbClr val="4A4A5A"/>
                </a:solidFill>
                <a:latin typeface="Calibri"/>
              </a:rPr>
              <a:t> </a:t>
            </a:r>
            <a:r>
              <a:rPr sz="1100" b="0" dirty="0">
                <a:solidFill>
                  <a:srgbClr val="4A4A5A"/>
                </a:solidFill>
                <a:latin typeface="Calibri"/>
              </a:rPr>
              <a:t>not</a:t>
            </a:r>
            <a:r>
              <a:rPr lang="fi-FI" sz="1100" b="0" dirty="0">
                <a:solidFill>
                  <a:srgbClr val="4A4A5A"/>
                </a:solidFill>
                <a:latin typeface="Calibri"/>
              </a:rPr>
              <a:t> </a:t>
            </a:r>
            <a:r>
              <a:rPr lang="fi-FI" sz="1100" b="0" dirty="0" err="1">
                <a:solidFill>
                  <a:srgbClr val="4A4A5A"/>
                </a:solidFill>
                <a:latin typeface="Calibri"/>
              </a:rPr>
              <a:t>coming</a:t>
            </a:r>
            <a:r>
              <a:rPr lang="fi-FI" sz="1100" b="0" dirty="0">
                <a:solidFill>
                  <a:srgbClr val="4A4A5A"/>
                </a:solidFill>
                <a:latin typeface="Calibri"/>
              </a:rPr>
              <a:t> </a:t>
            </a:r>
            <a:r>
              <a:rPr sz="1100" b="0" dirty="0">
                <a:solidFill>
                  <a:srgbClr val="4A4A5A"/>
                </a:solidFill>
                <a:latin typeface="Calibri"/>
              </a:rPr>
              <a:t> in user attention. The most useful features were in the most ignored screen zones.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868680"/>
            <a:ext cx="5486400" cy="2679192"/>
          </a:xfrm>
          <a:prstGeom prst="rect">
            <a:avLst/>
          </a:prstGeom>
          <a:solidFill>
            <a:srgbClr val="E6FBF4"/>
          </a:solidFill>
          <a:ln w="254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914400"/>
            <a:ext cx="73152" cy="2633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92240" y="1051560"/>
            <a:ext cx="502920" cy="502920"/>
          </a:xfrm>
          <a:prstGeom prst="ellipse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0972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05156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06D6A0"/>
                </a:solidFill>
                <a:latin typeface="Calibri"/>
              </a:rPr>
              <a:t>What Changed in the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572768"/>
            <a:ext cx="50749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4A4A5A"/>
                </a:solidFill>
                <a:latin typeface="Calibri"/>
              </a:rPr>
              <a:t>6 concrete improvements were identified and </a:t>
            </a:r>
            <a:r>
              <a:rPr lang="fi-FI" sz="1100" dirty="0" err="1">
                <a:solidFill>
                  <a:srgbClr val="4A4A5A"/>
                </a:solidFill>
                <a:latin typeface="Calibri"/>
              </a:rPr>
              <a:t>have</a:t>
            </a:r>
            <a:r>
              <a:rPr lang="fi-FI" sz="1100" dirty="0">
                <a:solidFill>
                  <a:srgbClr val="4A4A5A"/>
                </a:solidFill>
                <a:latin typeface="Calibri"/>
              </a:rPr>
              <a:t> </a:t>
            </a:r>
            <a:r>
              <a:rPr lang="fi-FI" sz="1100" dirty="0" err="1">
                <a:solidFill>
                  <a:srgbClr val="4A4A5A"/>
                </a:solidFill>
                <a:latin typeface="Calibri"/>
              </a:rPr>
              <a:t>been</a:t>
            </a:r>
            <a:r>
              <a:rPr lang="fi-FI" sz="1100" dirty="0">
                <a:solidFill>
                  <a:srgbClr val="4A4A5A"/>
                </a:solidFill>
                <a:latin typeface="Calibri"/>
              </a:rPr>
              <a:t> </a:t>
            </a:r>
            <a:r>
              <a:rPr lang="fi-FI" sz="1100" dirty="0" err="1">
                <a:solidFill>
                  <a:srgbClr val="4A4A5A"/>
                </a:solidFill>
                <a:latin typeface="Calibri"/>
              </a:rPr>
              <a:t>worked</a:t>
            </a:r>
            <a:r>
              <a:rPr lang="fi-FI" sz="1100" dirty="0">
                <a:solidFill>
                  <a:srgbClr val="4A4A5A"/>
                </a:solidFill>
                <a:latin typeface="Calibri"/>
              </a:rPr>
              <a:t> </a:t>
            </a:r>
            <a:r>
              <a:rPr sz="1100" b="0" dirty="0">
                <a:solidFill>
                  <a:srgbClr val="4A4A5A"/>
                </a:solidFill>
                <a:latin typeface="Calibri"/>
              </a:rPr>
              <a:t>based on eye-tracking principles: templates made full-width, AI score repositioned, gap analysis moved to top, admin sequential reveal added, score badge enlarged, completeness bar replaced with circular indicator.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9319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D0D8"/>
                </a:solidFill>
                <a:latin typeface="Calibri"/>
              </a:rPr>
              <a:t>Eye-tracking confirmed: a feature that exists in code is not guaranteed to exist in user experience.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E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57200" y="4572000"/>
            <a:ext cx="3200400" cy="3200400"/>
          </a:xfrm>
          <a:prstGeom prst="ellipse">
            <a:avLst/>
          </a:prstGeom>
          <a:solidFill>
            <a:srgbClr val="0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286000" y="182880"/>
            <a:ext cx="1828800" cy="1828800"/>
          </a:xfrm>
          <a:prstGeom prst="ellipse">
            <a:avLst/>
          </a:prstGeom>
          <a:solidFill>
            <a:srgbClr val="0A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B4D8"/>
                </a:solidFill>
                <a:latin typeface="Calibri"/>
              </a:rPr>
              <a:t>Eye-Tracking
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00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D0D8"/>
                </a:solidFill>
                <a:latin typeface="Calibri"/>
              </a:rPr>
              <a:t>CollabX RDI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21792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D0D8"/>
                </a:solidFill>
                <a:latin typeface="Calibri"/>
              </a:rPr>
              <a:t>Khuman Rana  •  2026</a:t>
            </a:r>
          </a:p>
        </p:txBody>
      </p:sp>
      <p:sp>
        <p:nvSpPr>
          <p:cNvPr id="10" name="Oval 9"/>
          <p:cNvSpPr/>
          <p:nvPr/>
        </p:nvSpPr>
        <p:spPr>
          <a:xfrm>
            <a:off x="4846320" y="1005840"/>
            <a:ext cx="914400" cy="91440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0" y="1115568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0574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D0D8"/>
                </a:solidFill>
                <a:latin typeface="Calibri"/>
              </a:rPr>
              <a:t>Screens Analysed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0" y="1005840"/>
            <a:ext cx="914400" cy="9144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1115568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574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D0D8"/>
                </a:solidFill>
                <a:latin typeface="Calibri"/>
              </a:rPr>
              <a:t>Issues Found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1005840"/>
            <a:ext cx="914400" cy="914400"/>
          </a:xfrm>
          <a:prstGeom prst="ellipse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20" y="1115568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574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D0D8"/>
                </a:solidFill>
                <a:latin typeface="Calibri"/>
              </a:rPr>
              <a:t>Improvements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0" y="1005840"/>
            <a:ext cx="914400" cy="9144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332720" y="1115568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20574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D0D8"/>
                </a:solidFill>
                <a:latin typeface="Calibri"/>
              </a:rPr>
              <a:t>Critical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2651760"/>
            <a:ext cx="7223760" cy="27432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0" y="283464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3337560"/>
            <a:ext cx="731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56048" y="3291840"/>
            <a:ext cx="6766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F-pattern means right-column and bottom content gets near-zero fixation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3886200"/>
            <a:ext cx="73152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56048" y="3840480"/>
            <a:ext cx="6766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AI Score invisible on both student and admin screens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4434840"/>
            <a:ext cx="73152" cy="73152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56048" y="4389120"/>
            <a:ext cx="6766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Template buttons missed — students type without using templates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4983479"/>
            <a:ext cx="73152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56048" y="4937760"/>
            <a:ext cx="6766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Skill Gap Analysis below fold — most useful feature, zero attention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5532120"/>
            <a:ext cx="73152" cy="73152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56048" y="5486400"/>
            <a:ext cx="6766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Approve button fixated before proposal content is read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6080760"/>
            <a:ext cx="73152" cy="7315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56048" y="6035040"/>
            <a:ext cx="6766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6 design improvements proposed to realign attention with task priorities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6583680"/>
            <a:ext cx="7223760" cy="27432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54880" y="6629400"/>
            <a:ext cx="7223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D0D8"/>
                </a:solidFill>
                <a:latin typeface="Calibri"/>
              </a:rPr>
              <a:t>Method: Analytical eye-tracking — applying fixation principles without hardware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1428</Words>
  <Application>Microsoft Macintosh PowerPoint</Application>
  <PresentationFormat>Custom</PresentationFormat>
  <Paragraphs>259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Khuman Rana</cp:lastModifiedBy>
  <cp:revision>4</cp:revision>
  <dcterms:created xsi:type="dcterms:W3CDTF">2013-01-27T09:14:16Z</dcterms:created>
  <dcterms:modified xsi:type="dcterms:W3CDTF">2026-04-27T12:45:52Z</dcterms:modified>
  <cp:category/>
</cp:coreProperties>
</file>