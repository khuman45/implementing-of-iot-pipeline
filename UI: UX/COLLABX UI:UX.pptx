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0A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 y="182880"/>
            <a:ext cx="3200400" cy="3200400"/>
          </a:xfrm>
          <a:prstGeom prst="ellipse">
            <a:avLst/>
          </a:prstGeom>
          <a:solidFill>
            <a:srgbClr val="0E3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0" y="4114800"/>
            <a:ext cx="2286000" cy="2286000"/>
          </a:xfrm>
          <a:prstGeom prst="ellipse">
            <a:avLst/>
          </a:prstGeom>
          <a:solidFill>
            <a:srgbClr val="0E3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19" y="2103120"/>
            <a:ext cx="1280160" cy="1280160"/>
          </a:xfrm>
          <a:prstGeom prst="ellipse">
            <a:avLst/>
          </a:prstGeom>
          <a:solidFill>
            <a:srgbClr val="0E3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57400" y="2286000"/>
            <a:ext cx="914400" cy="9144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240280" y="2468880"/>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00300" y="2628900"/>
            <a:ext cx="228600" cy="228600"/>
          </a:xfrm>
          <a:prstGeom prst="ellipse">
            <a:avLst/>
          </a:prstGeom>
          <a:solidFill>
            <a:srgbClr val="0A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33472" y="2633472"/>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097280"/>
            <a:ext cx="4480560" cy="1097280"/>
          </a:xfrm>
          <a:prstGeom prst="rect">
            <a:avLst/>
          </a:prstGeom>
          <a:noFill/>
        </p:spPr>
        <p:txBody>
          <a:bodyPr wrap="square">
            <a:spAutoFit/>
          </a:bodyPr>
          <a:lstStyle/>
          <a:p>
            <a:pPr algn="ctr"/>
            <a:r>
              <a:rPr sz="4200" b="1">
                <a:solidFill>
                  <a:srgbClr val="FFFFFF"/>
                </a:solidFill>
                <a:latin typeface="Calibri"/>
              </a:rPr>
              <a:t>Eye-Tracking</a:t>
            </a:r>
          </a:p>
        </p:txBody>
      </p:sp>
      <p:sp>
        <p:nvSpPr>
          <p:cNvPr id="12" name="TextBox 11"/>
          <p:cNvSpPr txBox="1"/>
          <p:nvPr/>
        </p:nvSpPr>
        <p:spPr>
          <a:xfrm>
            <a:off x="274320" y="2103120"/>
            <a:ext cx="4480560" cy="777240"/>
          </a:xfrm>
          <a:prstGeom prst="rect">
            <a:avLst/>
          </a:prstGeom>
          <a:noFill/>
        </p:spPr>
        <p:txBody>
          <a:bodyPr wrap="square">
            <a:spAutoFit/>
          </a:bodyPr>
          <a:lstStyle/>
          <a:p>
            <a:pPr algn="ctr"/>
            <a:r>
              <a:rPr sz="4200" b="1">
                <a:solidFill>
                  <a:srgbClr val="00B4D8"/>
                </a:solidFill>
                <a:latin typeface="Calibri"/>
              </a:rPr>
              <a:t>Research</a:t>
            </a:r>
          </a:p>
        </p:txBody>
      </p:sp>
      <p:sp>
        <p:nvSpPr>
          <p:cNvPr id="13" name="TextBox 12"/>
          <p:cNvSpPr txBox="1"/>
          <p:nvPr/>
        </p:nvSpPr>
        <p:spPr>
          <a:xfrm>
            <a:off x="274320" y="5029200"/>
            <a:ext cx="4480560" cy="411480"/>
          </a:xfrm>
          <a:prstGeom prst="rect">
            <a:avLst/>
          </a:prstGeom>
          <a:noFill/>
        </p:spPr>
        <p:txBody>
          <a:bodyPr wrap="square">
            <a:spAutoFit/>
          </a:bodyPr>
          <a:lstStyle/>
          <a:p>
            <a:pPr algn="ctr"/>
            <a:r>
              <a:rPr sz="1300" b="0">
                <a:solidFill>
                  <a:srgbClr val="CCD0D8"/>
                </a:solidFill>
                <a:latin typeface="Calibri"/>
              </a:rPr>
              <a:t>UI/UX Method — Task Option 4</a:t>
            </a:r>
          </a:p>
        </p:txBody>
      </p:sp>
      <p:sp>
        <p:nvSpPr>
          <p:cNvPr id="14" name="TextBox 13"/>
          <p:cNvSpPr txBox="1"/>
          <p:nvPr/>
        </p:nvSpPr>
        <p:spPr>
          <a:xfrm>
            <a:off x="274320" y="5440680"/>
            <a:ext cx="4480560" cy="347472"/>
          </a:xfrm>
          <a:prstGeom prst="rect">
            <a:avLst/>
          </a:prstGeom>
          <a:noFill/>
        </p:spPr>
        <p:txBody>
          <a:bodyPr wrap="square">
            <a:spAutoFit/>
          </a:bodyPr>
          <a:lstStyle/>
          <a:p>
            <a:pPr algn="ctr"/>
            <a:r>
              <a:rPr sz="1100" b="0">
                <a:solidFill>
                  <a:srgbClr val="CCD0D8"/>
                </a:solidFill>
                <a:latin typeface="Calibri"/>
              </a:rPr>
              <a:t>Attention-Driven Interface Analysis</a:t>
            </a:r>
          </a:p>
        </p:txBody>
      </p:sp>
      <p:sp>
        <p:nvSpPr>
          <p:cNvPr id="15" name="TextBox 14"/>
          <p:cNvSpPr txBox="1"/>
          <p:nvPr/>
        </p:nvSpPr>
        <p:spPr>
          <a:xfrm>
            <a:off x="5303520" y="1097280"/>
            <a:ext cx="6675120" cy="502920"/>
          </a:xfrm>
          <a:prstGeom prst="rect">
            <a:avLst/>
          </a:prstGeom>
          <a:noFill/>
        </p:spPr>
        <p:txBody>
          <a:bodyPr wrap="square">
            <a:spAutoFit/>
          </a:bodyPr>
          <a:lstStyle/>
          <a:p>
            <a:pPr algn="l"/>
            <a:r>
              <a:rPr sz="1600" b="0">
                <a:solidFill>
                  <a:srgbClr val="4A4A5A"/>
                </a:solidFill>
                <a:latin typeface="Calibri"/>
              </a:rPr>
              <a:t>Applied to</a:t>
            </a:r>
          </a:p>
        </p:txBody>
      </p:sp>
      <p:sp>
        <p:nvSpPr>
          <p:cNvPr id="16" name="TextBox 15"/>
          <p:cNvSpPr txBox="1"/>
          <p:nvPr/>
        </p:nvSpPr>
        <p:spPr>
          <a:xfrm>
            <a:off x="5303520" y="1554480"/>
            <a:ext cx="6675120" cy="822960"/>
          </a:xfrm>
          <a:prstGeom prst="rect">
            <a:avLst/>
          </a:prstGeom>
          <a:noFill/>
        </p:spPr>
        <p:txBody>
          <a:bodyPr wrap="square">
            <a:spAutoFit/>
          </a:bodyPr>
          <a:lstStyle/>
          <a:p>
            <a:pPr algn="l"/>
            <a:r>
              <a:rPr sz="4800" b="1">
                <a:solidFill>
                  <a:srgbClr val="0A295C"/>
                </a:solidFill>
                <a:latin typeface="Calibri"/>
              </a:rPr>
              <a:t>CollabX</a:t>
            </a:r>
          </a:p>
        </p:txBody>
      </p:sp>
      <p:sp>
        <p:nvSpPr>
          <p:cNvPr id="17" name="TextBox 16"/>
          <p:cNvSpPr txBox="1"/>
          <p:nvPr/>
        </p:nvSpPr>
        <p:spPr>
          <a:xfrm>
            <a:off x="5303520" y="2331720"/>
            <a:ext cx="6675120" cy="502920"/>
          </a:xfrm>
          <a:prstGeom prst="rect">
            <a:avLst/>
          </a:prstGeom>
          <a:noFill/>
        </p:spPr>
        <p:txBody>
          <a:bodyPr wrap="square">
            <a:spAutoFit/>
          </a:bodyPr>
          <a:lstStyle/>
          <a:p>
            <a:pPr algn="l"/>
            <a:r>
              <a:rPr sz="1800" b="1">
                <a:solidFill>
                  <a:srgbClr val="7C3AED"/>
                </a:solidFill>
                <a:latin typeface="Calibri"/>
              </a:rPr>
              <a:t>RDI Platform</a:t>
            </a:r>
          </a:p>
        </p:txBody>
      </p:sp>
      <p:sp>
        <p:nvSpPr>
          <p:cNvPr id="18" name="Rectangle 17"/>
          <p:cNvSpPr/>
          <p:nvPr/>
        </p:nvSpPr>
        <p:spPr>
          <a:xfrm>
            <a:off x="5303520" y="3017520"/>
            <a:ext cx="6217920" cy="36576"/>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0" y="3154680"/>
            <a:ext cx="6492240" cy="1097280"/>
          </a:xfrm>
          <a:prstGeom prst="rect">
            <a:avLst/>
          </a:prstGeom>
          <a:noFill/>
        </p:spPr>
        <p:txBody>
          <a:bodyPr wrap="square">
            <a:spAutoFit/>
          </a:bodyPr>
          <a:lstStyle/>
          <a:p>
            <a:pPr algn="l"/>
            <a:r>
              <a:rPr sz="1300" b="0">
                <a:solidFill>
                  <a:srgbClr val="4A4A5A"/>
                </a:solidFill>
                <a:latin typeface="Calibri"/>
              </a:rPr>
              <a:t>This presentation applies eye-tracking principles to predict how users visually interact with CollabX screens — identifying attention failures and proposing data-driven design improvements.</a:t>
            </a:r>
          </a:p>
        </p:txBody>
      </p:sp>
      <p:sp>
        <p:nvSpPr>
          <p:cNvPr id="20" name="Rounded Rectangle 19"/>
          <p:cNvSpPr/>
          <p:nvPr/>
        </p:nvSpPr>
        <p:spPr>
          <a:xfrm>
            <a:off x="5303520" y="4754880"/>
            <a:ext cx="1463040" cy="38404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9240" y="4773168"/>
            <a:ext cx="1371600" cy="338328"/>
          </a:xfrm>
          <a:prstGeom prst="rect">
            <a:avLst/>
          </a:prstGeom>
          <a:noFill/>
        </p:spPr>
        <p:txBody>
          <a:bodyPr wrap="square">
            <a:spAutoFit/>
          </a:bodyPr>
          <a:lstStyle/>
          <a:p>
            <a:pPr algn="ctr"/>
            <a:r>
              <a:rPr sz="1100" b="1">
                <a:solidFill>
                  <a:srgbClr val="FFFFFF"/>
                </a:solidFill>
                <a:latin typeface="Calibri"/>
              </a:rPr>
              <a:t>Fixations</a:t>
            </a:r>
          </a:p>
        </p:txBody>
      </p:sp>
      <p:sp>
        <p:nvSpPr>
          <p:cNvPr id="22" name="Rounded Rectangle 21"/>
          <p:cNvSpPr/>
          <p:nvPr/>
        </p:nvSpPr>
        <p:spPr>
          <a:xfrm>
            <a:off x="6903720" y="4754880"/>
            <a:ext cx="1463040" cy="384048"/>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4773168"/>
            <a:ext cx="1371600" cy="338328"/>
          </a:xfrm>
          <a:prstGeom prst="rect">
            <a:avLst/>
          </a:prstGeom>
          <a:noFill/>
        </p:spPr>
        <p:txBody>
          <a:bodyPr wrap="square">
            <a:spAutoFit/>
          </a:bodyPr>
          <a:lstStyle/>
          <a:p>
            <a:pPr algn="ctr"/>
            <a:r>
              <a:rPr sz="1100" b="1">
                <a:solidFill>
                  <a:srgbClr val="FFFFFF"/>
                </a:solidFill>
                <a:latin typeface="Calibri"/>
              </a:rPr>
              <a:t>Scan Paths</a:t>
            </a:r>
          </a:p>
        </p:txBody>
      </p:sp>
      <p:sp>
        <p:nvSpPr>
          <p:cNvPr id="24" name="Rounded Rectangle 23"/>
          <p:cNvSpPr/>
          <p:nvPr/>
        </p:nvSpPr>
        <p:spPr>
          <a:xfrm>
            <a:off x="8503920" y="4754880"/>
            <a:ext cx="1463040" cy="384048"/>
          </a:xfrm>
          <a:prstGeom prst="round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4773168"/>
            <a:ext cx="1371600" cy="338328"/>
          </a:xfrm>
          <a:prstGeom prst="rect">
            <a:avLst/>
          </a:prstGeom>
          <a:noFill/>
        </p:spPr>
        <p:txBody>
          <a:bodyPr wrap="square">
            <a:spAutoFit/>
          </a:bodyPr>
          <a:lstStyle/>
          <a:p>
            <a:pPr algn="ctr"/>
            <a:r>
              <a:rPr sz="1100" b="1">
                <a:solidFill>
                  <a:srgbClr val="FFFFFF"/>
                </a:solidFill>
                <a:latin typeface="Calibri"/>
              </a:rPr>
              <a:t>Heat Maps</a:t>
            </a:r>
          </a:p>
        </p:txBody>
      </p:sp>
      <p:sp>
        <p:nvSpPr>
          <p:cNvPr id="26" name="Rounded Rectangle 25"/>
          <p:cNvSpPr/>
          <p:nvPr/>
        </p:nvSpPr>
        <p:spPr>
          <a:xfrm>
            <a:off x="10104120" y="4754880"/>
            <a:ext cx="1463040" cy="384048"/>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40" y="4773168"/>
            <a:ext cx="1371600" cy="338328"/>
          </a:xfrm>
          <a:prstGeom prst="rect">
            <a:avLst/>
          </a:prstGeom>
          <a:noFill/>
        </p:spPr>
        <p:txBody>
          <a:bodyPr wrap="square">
            <a:spAutoFit/>
          </a:bodyPr>
          <a:lstStyle/>
          <a:p>
            <a:pPr algn="ctr"/>
            <a:r>
              <a:rPr sz="1100" b="1">
                <a:solidFill>
                  <a:srgbClr val="FFFFFF"/>
                </a:solidFill>
                <a:latin typeface="Calibri"/>
              </a:rPr>
              <a:t>F-Pattern</a:t>
            </a:r>
          </a:p>
        </p:txBody>
      </p:sp>
      <p:sp>
        <p:nvSpPr>
          <p:cNvPr id="28" name="TextBox 27"/>
          <p:cNvSpPr txBox="1"/>
          <p:nvPr/>
        </p:nvSpPr>
        <p:spPr>
          <a:xfrm>
            <a:off x="5303520" y="6126480"/>
            <a:ext cx="6400800" cy="347472"/>
          </a:xfrm>
          <a:prstGeom prst="rect">
            <a:avLst/>
          </a:prstGeom>
          <a:noFill/>
        </p:spPr>
        <p:txBody>
          <a:bodyPr wrap="square">
            <a:spAutoFit/>
          </a:bodyPr>
          <a:lstStyle/>
          <a:p>
            <a:pPr algn="l"/>
            <a:r>
              <a:rPr sz="1100" b="0">
                <a:solidFill>
                  <a:srgbClr val="CCD0D8"/>
                </a:solidFill>
                <a:latin typeface="Calibri"/>
              </a:rPr>
              <a:t>Khuman Rana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0A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2000" b="1">
                <a:solidFill>
                  <a:srgbClr val="FFFFFF"/>
                </a:solidFill>
                <a:latin typeface="Calibri"/>
              </a:rPr>
              <a:t>WHAT IS EYE-TRACKING RESEARCH?</a:t>
            </a:r>
          </a:p>
        </p:txBody>
      </p:sp>
      <p:sp>
        <p:nvSpPr>
          <p:cNvPr id="5" name="Rectangle 4"/>
          <p:cNvSpPr/>
          <p:nvPr/>
        </p:nvSpPr>
        <p:spPr>
          <a:xfrm>
            <a:off x="320040" y="960120"/>
            <a:ext cx="2148840" cy="2926080"/>
          </a:xfrm>
          <a:prstGeom prst="rect">
            <a:avLst/>
          </a:prstGeom>
          <a:solidFill>
            <a:srgbClr val="E8F4FD"/>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 y="1143000"/>
            <a:ext cx="685800" cy="6858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207008"/>
            <a:ext cx="685800" cy="548640"/>
          </a:xfrm>
          <a:prstGeom prst="rect">
            <a:avLst/>
          </a:prstGeom>
          <a:noFill/>
        </p:spPr>
        <p:txBody>
          <a:bodyPr wrap="square">
            <a:spAutoFit/>
          </a:bodyPr>
          <a:lstStyle/>
          <a:p>
            <a:pPr algn="ctr"/>
            <a:r>
              <a:rPr sz="2200" b="1">
                <a:solidFill>
                  <a:srgbClr val="FFFFFF"/>
                </a:solidFill>
                <a:latin typeface="Calibri"/>
              </a:rPr>
              <a:t>●</a:t>
            </a:r>
          </a:p>
        </p:txBody>
      </p:sp>
      <p:sp>
        <p:nvSpPr>
          <p:cNvPr id="8" name="TextBox 7"/>
          <p:cNvSpPr txBox="1"/>
          <p:nvPr/>
        </p:nvSpPr>
        <p:spPr>
          <a:xfrm>
            <a:off x="411479" y="2011680"/>
            <a:ext cx="1965960" cy="457200"/>
          </a:xfrm>
          <a:prstGeom prst="rect">
            <a:avLst/>
          </a:prstGeom>
          <a:noFill/>
        </p:spPr>
        <p:txBody>
          <a:bodyPr wrap="square">
            <a:spAutoFit/>
          </a:bodyPr>
          <a:lstStyle/>
          <a:p>
            <a:pPr algn="ctr"/>
            <a:r>
              <a:rPr sz="1300" b="1">
                <a:solidFill>
                  <a:srgbClr val="00B4D8"/>
                </a:solidFill>
                <a:latin typeface="Calibri"/>
              </a:rPr>
              <a:t>Fixations</a:t>
            </a:r>
          </a:p>
        </p:txBody>
      </p:sp>
      <p:sp>
        <p:nvSpPr>
          <p:cNvPr id="9" name="TextBox 8"/>
          <p:cNvSpPr txBox="1"/>
          <p:nvPr/>
        </p:nvSpPr>
        <p:spPr>
          <a:xfrm>
            <a:off x="411479" y="2514600"/>
            <a:ext cx="1965960" cy="1188720"/>
          </a:xfrm>
          <a:prstGeom prst="rect">
            <a:avLst/>
          </a:prstGeom>
          <a:noFill/>
        </p:spPr>
        <p:txBody>
          <a:bodyPr wrap="square">
            <a:spAutoFit/>
          </a:bodyPr>
          <a:lstStyle/>
          <a:p>
            <a:pPr algn="ctr"/>
            <a:r>
              <a:rPr sz="1000" b="0">
                <a:solidFill>
                  <a:srgbClr val="4A4A5A"/>
                </a:solidFill>
                <a:latin typeface="Calibri"/>
              </a:rPr>
              <a:t>Eyes pause on one point. Shows where the brain processes information.</a:t>
            </a:r>
          </a:p>
        </p:txBody>
      </p:sp>
      <p:sp>
        <p:nvSpPr>
          <p:cNvPr id="10" name="Rectangle 9"/>
          <p:cNvSpPr/>
          <p:nvPr/>
        </p:nvSpPr>
        <p:spPr>
          <a:xfrm>
            <a:off x="2697480" y="960120"/>
            <a:ext cx="2148840" cy="2926080"/>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29000" y="1143000"/>
            <a:ext cx="685800" cy="68580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207008"/>
            <a:ext cx="685800" cy="548640"/>
          </a:xfrm>
          <a:prstGeom prst="rect">
            <a:avLst/>
          </a:prstGeom>
          <a:noFill/>
        </p:spPr>
        <p:txBody>
          <a:bodyPr wrap="square">
            <a:spAutoFit/>
          </a:bodyPr>
          <a:lstStyle/>
          <a:p>
            <a:pPr algn="ctr"/>
            <a:r>
              <a:rPr sz="2200" b="1">
                <a:solidFill>
                  <a:srgbClr val="FFFFFF"/>
                </a:solidFill>
                <a:latin typeface="Calibri"/>
              </a:rPr>
              <a:t>↗</a:t>
            </a:r>
          </a:p>
        </p:txBody>
      </p:sp>
      <p:sp>
        <p:nvSpPr>
          <p:cNvPr id="13" name="TextBox 12"/>
          <p:cNvSpPr txBox="1"/>
          <p:nvPr/>
        </p:nvSpPr>
        <p:spPr>
          <a:xfrm>
            <a:off x="2788920" y="2011680"/>
            <a:ext cx="1965960" cy="457200"/>
          </a:xfrm>
          <a:prstGeom prst="rect">
            <a:avLst/>
          </a:prstGeom>
          <a:noFill/>
        </p:spPr>
        <p:txBody>
          <a:bodyPr wrap="square">
            <a:spAutoFit/>
          </a:bodyPr>
          <a:lstStyle/>
          <a:p>
            <a:pPr algn="ctr"/>
            <a:r>
              <a:rPr sz="1300" b="1">
                <a:solidFill>
                  <a:srgbClr val="FF6B6B"/>
                </a:solidFill>
                <a:latin typeface="Calibri"/>
              </a:rPr>
              <a:t>Saccades</a:t>
            </a:r>
          </a:p>
        </p:txBody>
      </p:sp>
      <p:sp>
        <p:nvSpPr>
          <p:cNvPr id="14" name="TextBox 13"/>
          <p:cNvSpPr txBox="1"/>
          <p:nvPr/>
        </p:nvSpPr>
        <p:spPr>
          <a:xfrm>
            <a:off x="2788920" y="2514600"/>
            <a:ext cx="1965960" cy="1188720"/>
          </a:xfrm>
          <a:prstGeom prst="rect">
            <a:avLst/>
          </a:prstGeom>
          <a:noFill/>
        </p:spPr>
        <p:txBody>
          <a:bodyPr wrap="square">
            <a:spAutoFit/>
          </a:bodyPr>
          <a:lstStyle/>
          <a:p>
            <a:pPr algn="ctr"/>
            <a:r>
              <a:rPr sz="1000" b="0">
                <a:solidFill>
                  <a:srgbClr val="4A4A5A"/>
                </a:solidFill>
                <a:latin typeface="Calibri"/>
              </a:rPr>
              <a:t>Rapid jumps between fixations. The invisible path between attention points.</a:t>
            </a:r>
          </a:p>
        </p:txBody>
      </p:sp>
      <p:sp>
        <p:nvSpPr>
          <p:cNvPr id="15" name="Rectangle 14"/>
          <p:cNvSpPr/>
          <p:nvPr/>
        </p:nvSpPr>
        <p:spPr>
          <a:xfrm>
            <a:off x="5074920" y="960120"/>
            <a:ext cx="2148840" cy="2926080"/>
          </a:xfrm>
          <a:prstGeom prst="rect">
            <a:avLst/>
          </a:prstGeom>
          <a:solidFill>
            <a:srgbClr val="F3EE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06440" y="1143000"/>
            <a:ext cx="685800" cy="6858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06440" y="1207008"/>
            <a:ext cx="685800" cy="548640"/>
          </a:xfrm>
          <a:prstGeom prst="rect">
            <a:avLst/>
          </a:prstGeom>
          <a:noFill/>
        </p:spPr>
        <p:txBody>
          <a:bodyPr wrap="square">
            <a:spAutoFit/>
          </a:bodyPr>
          <a:lstStyle/>
          <a:p>
            <a:pPr algn="ctr"/>
            <a:r>
              <a:rPr sz="2200" b="1">
                <a:solidFill>
                  <a:srgbClr val="FFFFFF"/>
                </a:solidFill>
                <a:latin typeface="Calibri"/>
              </a:rPr>
              <a:t>〜</a:t>
            </a:r>
          </a:p>
        </p:txBody>
      </p:sp>
      <p:sp>
        <p:nvSpPr>
          <p:cNvPr id="18" name="TextBox 17"/>
          <p:cNvSpPr txBox="1"/>
          <p:nvPr/>
        </p:nvSpPr>
        <p:spPr>
          <a:xfrm>
            <a:off x="5166359" y="2011680"/>
            <a:ext cx="1965960" cy="457200"/>
          </a:xfrm>
          <a:prstGeom prst="rect">
            <a:avLst/>
          </a:prstGeom>
          <a:noFill/>
        </p:spPr>
        <p:txBody>
          <a:bodyPr wrap="square">
            <a:spAutoFit/>
          </a:bodyPr>
          <a:lstStyle/>
          <a:p>
            <a:pPr algn="ctr"/>
            <a:r>
              <a:rPr sz="1300" b="1">
                <a:solidFill>
                  <a:srgbClr val="7C3AED"/>
                </a:solidFill>
                <a:latin typeface="Calibri"/>
              </a:rPr>
              <a:t>Scan Path</a:t>
            </a:r>
          </a:p>
        </p:txBody>
      </p:sp>
      <p:sp>
        <p:nvSpPr>
          <p:cNvPr id="19" name="TextBox 18"/>
          <p:cNvSpPr txBox="1"/>
          <p:nvPr/>
        </p:nvSpPr>
        <p:spPr>
          <a:xfrm>
            <a:off x="5166359" y="2514600"/>
            <a:ext cx="1965960" cy="1188720"/>
          </a:xfrm>
          <a:prstGeom prst="rect">
            <a:avLst/>
          </a:prstGeom>
          <a:noFill/>
        </p:spPr>
        <p:txBody>
          <a:bodyPr wrap="square">
            <a:spAutoFit/>
          </a:bodyPr>
          <a:lstStyle/>
          <a:p>
            <a:pPr algn="ctr"/>
            <a:r>
              <a:rPr sz="1000" b="0">
                <a:solidFill>
                  <a:srgbClr val="4A4A5A"/>
                </a:solidFill>
                <a:latin typeface="Calibri"/>
              </a:rPr>
              <a:t>Complete journey of fixations. Shows how a user 'reads' a screen.</a:t>
            </a:r>
          </a:p>
        </p:txBody>
      </p:sp>
      <p:sp>
        <p:nvSpPr>
          <p:cNvPr id="20" name="Rectangle 19"/>
          <p:cNvSpPr/>
          <p:nvPr/>
        </p:nvSpPr>
        <p:spPr>
          <a:xfrm>
            <a:off x="7452360" y="960120"/>
            <a:ext cx="2148840" cy="2926080"/>
          </a:xfrm>
          <a:prstGeom prst="rect">
            <a:avLst/>
          </a:prstGeom>
          <a:solidFill>
            <a:srgbClr val="FFF8E1"/>
          </a:solidFill>
          <a:ln w="254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83880" y="1143000"/>
            <a:ext cx="685800" cy="685800"/>
          </a:xfrm>
          <a:prstGeom prst="ellipse">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80" y="1207008"/>
            <a:ext cx="685800" cy="548640"/>
          </a:xfrm>
          <a:prstGeom prst="rect">
            <a:avLst/>
          </a:prstGeom>
          <a:noFill/>
        </p:spPr>
        <p:txBody>
          <a:bodyPr wrap="square">
            <a:spAutoFit/>
          </a:bodyPr>
          <a:lstStyle/>
          <a:p>
            <a:pPr algn="ctr"/>
            <a:r>
              <a:rPr sz="2200" b="1">
                <a:solidFill>
                  <a:srgbClr val="FFFFFF"/>
                </a:solidFill>
                <a:latin typeface="Calibri"/>
              </a:rPr>
              <a:t>🔥</a:t>
            </a:r>
          </a:p>
        </p:txBody>
      </p:sp>
      <p:sp>
        <p:nvSpPr>
          <p:cNvPr id="23" name="TextBox 22"/>
          <p:cNvSpPr txBox="1"/>
          <p:nvPr/>
        </p:nvSpPr>
        <p:spPr>
          <a:xfrm>
            <a:off x="7543800" y="2011680"/>
            <a:ext cx="1965960" cy="457200"/>
          </a:xfrm>
          <a:prstGeom prst="rect">
            <a:avLst/>
          </a:prstGeom>
          <a:noFill/>
        </p:spPr>
        <p:txBody>
          <a:bodyPr wrap="square">
            <a:spAutoFit/>
          </a:bodyPr>
          <a:lstStyle/>
          <a:p>
            <a:pPr algn="ctr"/>
            <a:r>
              <a:rPr sz="1300" b="1">
                <a:solidFill>
                  <a:srgbClr val="FFB703"/>
                </a:solidFill>
                <a:latin typeface="Calibri"/>
              </a:rPr>
              <a:t>Heat Maps</a:t>
            </a:r>
          </a:p>
        </p:txBody>
      </p:sp>
      <p:sp>
        <p:nvSpPr>
          <p:cNvPr id="24" name="TextBox 23"/>
          <p:cNvSpPr txBox="1"/>
          <p:nvPr/>
        </p:nvSpPr>
        <p:spPr>
          <a:xfrm>
            <a:off x="7543800" y="2514600"/>
            <a:ext cx="1965960" cy="1188720"/>
          </a:xfrm>
          <a:prstGeom prst="rect">
            <a:avLst/>
          </a:prstGeom>
          <a:noFill/>
        </p:spPr>
        <p:txBody>
          <a:bodyPr wrap="square">
            <a:spAutoFit/>
          </a:bodyPr>
          <a:lstStyle/>
          <a:p>
            <a:pPr algn="ctr"/>
            <a:r>
              <a:rPr sz="1000" b="0">
                <a:solidFill>
                  <a:srgbClr val="4A4A5A"/>
                </a:solidFill>
                <a:latin typeface="Calibri"/>
              </a:rPr>
              <a:t>Visual overlay of all fixations. Red = most looked at. Blue = ignored.</a:t>
            </a:r>
          </a:p>
        </p:txBody>
      </p:sp>
      <p:sp>
        <p:nvSpPr>
          <p:cNvPr id="25" name="Rectangle 24"/>
          <p:cNvSpPr/>
          <p:nvPr/>
        </p:nvSpPr>
        <p:spPr>
          <a:xfrm>
            <a:off x="9829800" y="960120"/>
            <a:ext cx="2148840" cy="2926080"/>
          </a:xfrm>
          <a:prstGeom prst="rect">
            <a:avLst/>
          </a:prstGeom>
          <a:solidFill>
            <a:srgbClr val="E6FBF4"/>
          </a:solidFill>
          <a:ln w="25400">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561320" y="1143000"/>
            <a:ext cx="685800" cy="68580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61320" y="1207008"/>
            <a:ext cx="685800" cy="548640"/>
          </a:xfrm>
          <a:prstGeom prst="rect">
            <a:avLst/>
          </a:prstGeom>
          <a:noFill/>
        </p:spPr>
        <p:txBody>
          <a:bodyPr wrap="square">
            <a:spAutoFit/>
          </a:bodyPr>
          <a:lstStyle/>
          <a:p>
            <a:pPr algn="ctr"/>
            <a:r>
              <a:rPr sz="2200" b="1">
                <a:solidFill>
                  <a:srgbClr val="FFFFFF"/>
                </a:solidFill>
                <a:latin typeface="Calibri"/>
              </a:rPr>
              <a:t>◎</a:t>
            </a:r>
          </a:p>
        </p:txBody>
      </p:sp>
      <p:sp>
        <p:nvSpPr>
          <p:cNvPr id="28" name="TextBox 27"/>
          <p:cNvSpPr txBox="1"/>
          <p:nvPr/>
        </p:nvSpPr>
        <p:spPr>
          <a:xfrm>
            <a:off x="9921240" y="2011680"/>
            <a:ext cx="1965960" cy="457200"/>
          </a:xfrm>
          <a:prstGeom prst="rect">
            <a:avLst/>
          </a:prstGeom>
          <a:noFill/>
        </p:spPr>
        <p:txBody>
          <a:bodyPr wrap="square">
            <a:spAutoFit/>
          </a:bodyPr>
          <a:lstStyle/>
          <a:p>
            <a:pPr algn="ctr"/>
            <a:r>
              <a:rPr sz="1300" b="1">
                <a:solidFill>
                  <a:srgbClr val="06D6A0"/>
                </a:solidFill>
                <a:latin typeface="Calibri"/>
              </a:rPr>
              <a:t>Entry Point</a:t>
            </a:r>
          </a:p>
        </p:txBody>
      </p:sp>
      <p:sp>
        <p:nvSpPr>
          <p:cNvPr id="29" name="TextBox 28"/>
          <p:cNvSpPr txBox="1"/>
          <p:nvPr/>
        </p:nvSpPr>
        <p:spPr>
          <a:xfrm>
            <a:off x="9921240" y="2514600"/>
            <a:ext cx="1965960" cy="1188720"/>
          </a:xfrm>
          <a:prstGeom prst="rect">
            <a:avLst/>
          </a:prstGeom>
          <a:noFill/>
        </p:spPr>
        <p:txBody>
          <a:bodyPr wrap="square">
            <a:spAutoFit/>
          </a:bodyPr>
          <a:lstStyle/>
          <a:p>
            <a:pPr algn="ctr"/>
            <a:r>
              <a:rPr sz="1000" b="0">
                <a:solidFill>
                  <a:srgbClr val="4A4A5A"/>
                </a:solidFill>
                <a:latin typeface="Calibri"/>
              </a:rPr>
              <a:t>The very first thing a user looks at. Sets the entire reading experience.</a:t>
            </a:r>
          </a:p>
        </p:txBody>
      </p:sp>
      <p:sp>
        <p:nvSpPr>
          <p:cNvPr id="30" name="Rectangle 29"/>
          <p:cNvSpPr/>
          <p:nvPr/>
        </p:nvSpPr>
        <p:spPr>
          <a:xfrm>
            <a:off x="320040" y="4069080"/>
            <a:ext cx="11521440" cy="2514600"/>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4069080"/>
            <a:ext cx="73152" cy="2514600"/>
          </a:xfrm>
          <a:prstGeom prst="rect">
            <a:avLst/>
          </a:prstGeom>
          <a:solidFill>
            <a:srgbClr val="0A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206240"/>
            <a:ext cx="7315200" cy="411480"/>
          </a:xfrm>
          <a:prstGeom prst="rect">
            <a:avLst/>
          </a:prstGeom>
          <a:noFill/>
        </p:spPr>
        <p:txBody>
          <a:bodyPr wrap="square">
            <a:spAutoFit/>
          </a:bodyPr>
          <a:lstStyle/>
          <a:p>
            <a:pPr algn="l"/>
            <a:r>
              <a:rPr sz="1400" b="1">
                <a:solidFill>
                  <a:srgbClr val="0A295C"/>
                </a:solidFill>
                <a:latin typeface="Calibri"/>
              </a:rPr>
              <a:t>WHY IT MATTERS FOR COLLABX</a:t>
            </a:r>
          </a:p>
        </p:txBody>
      </p:sp>
      <p:sp>
        <p:nvSpPr>
          <p:cNvPr id="33" name="Rectangle 32"/>
          <p:cNvSpPr/>
          <p:nvPr/>
        </p:nvSpPr>
        <p:spPr>
          <a:xfrm>
            <a:off x="594360" y="4709160"/>
            <a:ext cx="54864"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663440"/>
            <a:ext cx="10789920" cy="475488"/>
          </a:xfrm>
          <a:prstGeom prst="rect">
            <a:avLst/>
          </a:prstGeom>
          <a:noFill/>
        </p:spPr>
        <p:txBody>
          <a:bodyPr wrap="square">
            <a:spAutoFit/>
          </a:bodyPr>
          <a:lstStyle/>
          <a:p>
            <a:pPr algn="l"/>
            <a:r>
              <a:rPr sz="1100" b="0">
                <a:solidFill>
                  <a:srgbClr val="4A4A5A"/>
                </a:solidFill>
                <a:latin typeface="Calibri"/>
              </a:rPr>
              <a:t>CollabX has information-dense screens where students and admins must notice specific elements to complete tasks successfully.</a:t>
            </a:r>
          </a:p>
        </p:txBody>
      </p:sp>
      <p:sp>
        <p:nvSpPr>
          <p:cNvPr id="35" name="Rectangle 34"/>
          <p:cNvSpPr/>
          <p:nvPr/>
        </p:nvSpPr>
        <p:spPr>
          <a:xfrm>
            <a:off x="594360" y="5257800"/>
            <a:ext cx="54864"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212079"/>
            <a:ext cx="10789920" cy="475488"/>
          </a:xfrm>
          <a:prstGeom prst="rect">
            <a:avLst/>
          </a:prstGeom>
          <a:noFill/>
        </p:spPr>
        <p:txBody>
          <a:bodyPr wrap="square">
            <a:spAutoFit/>
          </a:bodyPr>
          <a:lstStyle/>
          <a:p>
            <a:pPr algn="l"/>
            <a:r>
              <a:rPr sz="1100" b="0">
                <a:solidFill>
                  <a:srgbClr val="4A4A5A"/>
                </a:solidFill>
                <a:latin typeface="Calibri"/>
              </a:rPr>
              <a:t>Features like AI Score, Template Buttons, and Skill Gap Analysis are built but may be invisible to users if visual hierarchy is wrong.</a:t>
            </a:r>
          </a:p>
        </p:txBody>
      </p:sp>
      <p:sp>
        <p:nvSpPr>
          <p:cNvPr id="37" name="Rectangle 36"/>
          <p:cNvSpPr/>
          <p:nvPr/>
        </p:nvSpPr>
        <p:spPr>
          <a:xfrm>
            <a:off x="594360" y="5806440"/>
            <a:ext cx="54864"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760720"/>
            <a:ext cx="10789920" cy="475488"/>
          </a:xfrm>
          <a:prstGeom prst="rect">
            <a:avLst/>
          </a:prstGeom>
          <a:noFill/>
        </p:spPr>
        <p:txBody>
          <a:bodyPr wrap="square">
            <a:spAutoFit/>
          </a:bodyPr>
          <a:lstStyle/>
          <a:p>
            <a:pPr algn="l"/>
            <a:r>
              <a:rPr sz="1100" b="0">
                <a:solidFill>
                  <a:srgbClr val="4A4A5A"/>
                </a:solidFill>
                <a:latin typeface="Calibri"/>
              </a:rPr>
              <a:t>Analytical eye-tracking applies the principles without equipment — predicting fixation patterns using visual weight, contrast, position and size.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2000" b="1">
                <a:solidFill>
                  <a:srgbClr val="FFFFFF"/>
                </a:solidFill>
                <a:latin typeface="Calibri"/>
              </a:rPr>
              <a:t>SCREENS SELECTED FOR ANALYSIS</a:t>
            </a:r>
          </a:p>
        </p:txBody>
      </p:sp>
      <p:sp>
        <p:nvSpPr>
          <p:cNvPr id="5" name="Rectangle 4"/>
          <p:cNvSpPr/>
          <p:nvPr/>
        </p:nvSpPr>
        <p:spPr>
          <a:xfrm>
            <a:off x="365760" y="914400"/>
            <a:ext cx="11430000" cy="1691640"/>
          </a:xfrm>
          <a:prstGeom prst="rect">
            <a:avLst/>
          </a:prstGeom>
          <a:solidFill>
            <a:srgbClr val="E8F4FD"/>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1188720" cy="1691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71600"/>
            <a:ext cx="1188720" cy="777240"/>
          </a:xfrm>
          <a:prstGeom prst="rect">
            <a:avLst/>
          </a:prstGeom>
          <a:noFill/>
        </p:spPr>
        <p:txBody>
          <a:bodyPr wrap="square">
            <a:spAutoFit/>
          </a:bodyPr>
          <a:lstStyle/>
          <a:p>
            <a:pPr algn="ctr"/>
            <a:r>
              <a:rPr sz="3600" b="1">
                <a:solidFill>
                  <a:srgbClr val="FFFFFF"/>
                </a:solidFill>
                <a:latin typeface="Calibri"/>
              </a:rPr>
              <a:t>01</a:t>
            </a:r>
          </a:p>
        </p:txBody>
      </p:sp>
      <p:sp>
        <p:nvSpPr>
          <p:cNvPr id="8" name="Rounded Rectangle 7"/>
          <p:cNvSpPr/>
          <p:nvPr/>
        </p:nvSpPr>
        <p:spPr>
          <a:xfrm>
            <a:off x="1691640" y="1024128"/>
            <a:ext cx="1371600" cy="29260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1042416"/>
            <a:ext cx="1280160" cy="246888"/>
          </a:xfrm>
          <a:prstGeom prst="rect">
            <a:avLst/>
          </a:prstGeom>
          <a:noFill/>
        </p:spPr>
        <p:txBody>
          <a:bodyPr wrap="square">
            <a:spAutoFit/>
          </a:bodyPr>
          <a:lstStyle/>
          <a:p>
            <a:pPr algn="ctr"/>
            <a:r>
              <a:rPr sz="900" b="1">
                <a:solidFill>
                  <a:srgbClr val="FFFFFF"/>
                </a:solidFill>
                <a:latin typeface="Calibri"/>
              </a:rPr>
              <a:t>Student View</a:t>
            </a:r>
          </a:p>
        </p:txBody>
      </p:sp>
      <p:sp>
        <p:nvSpPr>
          <p:cNvPr id="10" name="TextBox 9"/>
          <p:cNvSpPr txBox="1"/>
          <p:nvPr/>
        </p:nvSpPr>
        <p:spPr>
          <a:xfrm>
            <a:off x="1691640" y="1389888"/>
            <a:ext cx="5486400" cy="475488"/>
          </a:xfrm>
          <a:prstGeom prst="rect">
            <a:avLst/>
          </a:prstGeom>
          <a:noFill/>
        </p:spPr>
        <p:txBody>
          <a:bodyPr wrap="square">
            <a:spAutoFit/>
          </a:bodyPr>
          <a:lstStyle/>
          <a:p>
            <a:pPr algn="l"/>
            <a:r>
              <a:rPr sz="1800" b="1">
                <a:solidFill>
                  <a:srgbClr val="00B4D8"/>
                </a:solidFill>
                <a:latin typeface="Calibri"/>
              </a:rPr>
              <a:t>Research Arena</a:t>
            </a:r>
          </a:p>
        </p:txBody>
      </p:sp>
      <p:sp>
        <p:nvSpPr>
          <p:cNvPr id="11" name="TextBox 10"/>
          <p:cNvSpPr txBox="1"/>
          <p:nvPr/>
        </p:nvSpPr>
        <p:spPr>
          <a:xfrm>
            <a:off x="1691640" y="1901952"/>
            <a:ext cx="9601200" cy="566928"/>
          </a:xfrm>
          <a:prstGeom prst="rect">
            <a:avLst/>
          </a:prstGeom>
          <a:noFill/>
        </p:spPr>
        <p:txBody>
          <a:bodyPr wrap="square">
            <a:spAutoFit/>
          </a:bodyPr>
          <a:lstStyle/>
          <a:p>
            <a:pPr algn="l"/>
            <a:r>
              <a:rPr sz="1100" b="0">
                <a:solidFill>
                  <a:srgbClr val="4A4A5A"/>
                </a:solidFill>
                <a:latin typeface="Calibri"/>
              </a:rPr>
              <a:t>Students see challenges, template buttons, textarea, AI score and Accept/Decline all on one page. Most complex student screen.</a:t>
            </a:r>
          </a:p>
        </p:txBody>
      </p:sp>
      <p:sp>
        <p:nvSpPr>
          <p:cNvPr id="12" name="TextBox 11"/>
          <p:cNvSpPr txBox="1"/>
          <p:nvPr/>
        </p:nvSpPr>
        <p:spPr>
          <a:xfrm>
            <a:off x="1691640" y="2286000"/>
            <a:ext cx="9601200" cy="256032"/>
          </a:xfrm>
          <a:prstGeom prst="rect">
            <a:avLst/>
          </a:prstGeom>
          <a:noFill/>
        </p:spPr>
        <p:txBody>
          <a:bodyPr wrap="square">
            <a:spAutoFit/>
          </a:bodyPr>
          <a:lstStyle/>
          <a:p>
            <a:pPr algn="l"/>
            <a:r>
              <a:rPr sz="1000" b="0">
                <a:solidFill>
                  <a:srgbClr val="CCD0D8"/>
                </a:solidFill>
                <a:latin typeface="Calibri"/>
              </a:rPr>
              <a:t>Key question: Are users looking at the right things at the right time?</a:t>
            </a:r>
          </a:p>
        </p:txBody>
      </p:sp>
      <p:sp>
        <p:nvSpPr>
          <p:cNvPr id="13" name="Rectangle 12"/>
          <p:cNvSpPr/>
          <p:nvPr/>
        </p:nvSpPr>
        <p:spPr>
          <a:xfrm>
            <a:off x="365760" y="2788920"/>
            <a:ext cx="11430000" cy="1691640"/>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788920"/>
            <a:ext cx="1188720" cy="169164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246120"/>
            <a:ext cx="1188720" cy="777240"/>
          </a:xfrm>
          <a:prstGeom prst="rect">
            <a:avLst/>
          </a:prstGeom>
          <a:noFill/>
        </p:spPr>
        <p:txBody>
          <a:bodyPr wrap="square">
            <a:spAutoFit/>
          </a:bodyPr>
          <a:lstStyle/>
          <a:p>
            <a:pPr algn="ctr"/>
            <a:r>
              <a:rPr sz="3600" b="1">
                <a:solidFill>
                  <a:srgbClr val="FFFFFF"/>
                </a:solidFill>
                <a:latin typeface="Calibri"/>
              </a:rPr>
              <a:t>02</a:t>
            </a:r>
          </a:p>
        </p:txBody>
      </p:sp>
      <p:sp>
        <p:nvSpPr>
          <p:cNvPr id="16" name="Rounded Rectangle 15"/>
          <p:cNvSpPr/>
          <p:nvPr/>
        </p:nvSpPr>
        <p:spPr>
          <a:xfrm>
            <a:off x="1691640" y="2898648"/>
            <a:ext cx="1371600" cy="292608"/>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2916936"/>
            <a:ext cx="1280160" cy="246888"/>
          </a:xfrm>
          <a:prstGeom prst="rect">
            <a:avLst/>
          </a:prstGeom>
          <a:noFill/>
        </p:spPr>
        <p:txBody>
          <a:bodyPr wrap="square">
            <a:spAutoFit/>
          </a:bodyPr>
          <a:lstStyle/>
          <a:p>
            <a:pPr algn="ctr"/>
            <a:r>
              <a:rPr sz="900" b="1">
                <a:solidFill>
                  <a:srgbClr val="FFFFFF"/>
                </a:solidFill>
                <a:latin typeface="Calibri"/>
              </a:rPr>
              <a:t>Admin View</a:t>
            </a:r>
          </a:p>
        </p:txBody>
      </p:sp>
      <p:sp>
        <p:nvSpPr>
          <p:cNvPr id="18" name="TextBox 17"/>
          <p:cNvSpPr txBox="1"/>
          <p:nvPr/>
        </p:nvSpPr>
        <p:spPr>
          <a:xfrm>
            <a:off x="1691640" y="3264408"/>
            <a:ext cx="5486400" cy="475488"/>
          </a:xfrm>
          <a:prstGeom prst="rect">
            <a:avLst/>
          </a:prstGeom>
          <a:noFill/>
        </p:spPr>
        <p:txBody>
          <a:bodyPr wrap="square">
            <a:spAutoFit/>
          </a:bodyPr>
          <a:lstStyle/>
          <a:p>
            <a:pPr algn="l"/>
            <a:r>
              <a:rPr sz="1800" b="1">
                <a:solidFill>
                  <a:srgbClr val="FF6B6B"/>
                </a:solidFill>
                <a:latin typeface="Calibri"/>
              </a:rPr>
              <a:t>Admin Research Arena</a:t>
            </a:r>
          </a:p>
        </p:txBody>
      </p:sp>
      <p:sp>
        <p:nvSpPr>
          <p:cNvPr id="19" name="TextBox 18"/>
          <p:cNvSpPr txBox="1"/>
          <p:nvPr/>
        </p:nvSpPr>
        <p:spPr>
          <a:xfrm>
            <a:off x="1691640" y="3776472"/>
            <a:ext cx="9601200" cy="566928"/>
          </a:xfrm>
          <a:prstGeom prst="rect">
            <a:avLst/>
          </a:prstGeom>
          <a:noFill/>
        </p:spPr>
        <p:txBody>
          <a:bodyPr wrap="square">
            <a:spAutoFit/>
          </a:bodyPr>
          <a:lstStyle/>
          <a:p>
            <a:pPr algn="l"/>
            <a:r>
              <a:rPr sz="1100" b="0">
                <a:solidFill>
                  <a:srgbClr val="4A4A5A"/>
                </a:solidFill>
                <a:latin typeface="Calibri"/>
              </a:rPr>
              <a:t>Admin reviews proposals with AI scores and must approve or reject. Score visibility and button order are critical.</a:t>
            </a:r>
          </a:p>
        </p:txBody>
      </p:sp>
      <p:sp>
        <p:nvSpPr>
          <p:cNvPr id="20" name="TextBox 19"/>
          <p:cNvSpPr txBox="1"/>
          <p:nvPr/>
        </p:nvSpPr>
        <p:spPr>
          <a:xfrm>
            <a:off x="1691640" y="4160520"/>
            <a:ext cx="9601200" cy="256032"/>
          </a:xfrm>
          <a:prstGeom prst="rect">
            <a:avLst/>
          </a:prstGeom>
          <a:noFill/>
        </p:spPr>
        <p:txBody>
          <a:bodyPr wrap="square">
            <a:spAutoFit/>
          </a:bodyPr>
          <a:lstStyle/>
          <a:p>
            <a:pPr algn="l"/>
            <a:r>
              <a:rPr sz="1000" b="0">
                <a:solidFill>
                  <a:srgbClr val="CCD0D8"/>
                </a:solidFill>
                <a:latin typeface="Calibri"/>
              </a:rPr>
              <a:t>Key question: Are users looking at the right things at the right time?</a:t>
            </a:r>
          </a:p>
        </p:txBody>
      </p:sp>
      <p:sp>
        <p:nvSpPr>
          <p:cNvPr id="21" name="Rectangle 20"/>
          <p:cNvSpPr/>
          <p:nvPr/>
        </p:nvSpPr>
        <p:spPr>
          <a:xfrm>
            <a:off x="365760" y="4663440"/>
            <a:ext cx="11430000" cy="1691640"/>
          </a:xfrm>
          <a:prstGeom prst="rect">
            <a:avLst/>
          </a:prstGeom>
          <a:solidFill>
            <a:srgbClr val="F3EE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663440"/>
            <a:ext cx="1188720" cy="1691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120640"/>
            <a:ext cx="1188720" cy="777240"/>
          </a:xfrm>
          <a:prstGeom prst="rect">
            <a:avLst/>
          </a:prstGeom>
          <a:noFill/>
        </p:spPr>
        <p:txBody>
          <a:bodyPr wrap="square">
            <a:spAutoFit/>
          </a:bodyPr>
          <a:lstStyle/>
          <a:p>
            <a:pPr algn="ctr"/>
            <a:r>
              <a:rPr sz="3600" b="1">
                <a:solidFill>
                  <a:srgbClr val="FFFFFF"/>
                </a:solidFill>
                <a:latin typeface="Calibri"/>
              </a:rPr>
              <a:t>03</a:t>
            </a:r>
          </a:p>
        </p:txBody>
      </p:sp>
      <p:sp>
        <p:nvSpPr>
          <p:cNvPr id="24" name="Rounded Rectangle 23"/>
          <p:cNvSpPr/>
          <p:nvPr/>
        </p:nvSpPr>
        <p:spPr>
          <a:xfrm>
            <a:off x="1691640" y="4773168"/>
            <a:ext cx="1371600"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4791455"/>
            <a:ext cx="1280160" cy="246888"/>
          </a:xfrm>
          <a:prstGeom prst="rect">
            <a:avLst/>
          </a:prstGeom>
          <a:noFill/>
        </p:spPr>
        <p:txBody>
          <a:bodyPr wrap="square">
            <a:spAutoFit/>
          </a:bodyPr>
          <a:lstStyle/>
          <a:p>
            <a:pPr algn="ctr"/>
            <a:r>
              <a:rPr sz="900" b="1">
                <a:solidFill>
                  <a:srgbClr val="FFFFFF"/>
                </a:solidFill>
                <a:latin typeface="Calibri"/>
              </a:rPr>
              <a:t>Student View</a:t>
            </a:r>
          </a:p>
        </p:txBody>
      </p:sp>
      <p:sp>
        <p:nvSpPr>
          <p:cNvPr id="26" name="TextBox 25"/>
          <p:cNvSpPr txBox="1"/>
          <p:nvPr/>
        </p:nvSpPr>
        <p:spPr>
          <a:xfrm>
            <a:off x="1691640" y="5138927"/>
            <a:ext cx="5486400" cy="475488"/>
          </a:xfrm>
          <a:prstGeom prst="rect">
            <a:avLst/>
          </a:prstGeom>
          <a:noFill/>
        </p:spPr>
        <p:txBody>
          <a:bodyPr wrap="square">
            <a:spAutoFit/>
          </a:bodyPr>
          <a:lstStyle/>
          <a:p>
            <a:pPr algn="l"/>
            <a:r>
              <a:rPr sz="1800" b="1">
                <a:solidFill>
                  <a:srgbClr val="7C3AED"/>
                </a:solidFill>
                <a:latin typeface="Calibri"/>
              </a:rPr>
              <a:t>Student Skills Page</a:t>
            </a:r>
          </a:p>
        </p:txBody>
      </p:sp>
      <p:sp>
        <p:nvSpPr>
          <p:cNvPr id="27" name="TextBox 26"/>
          <p:cNvSpPr txBox="1"/>
          <p:nvPr/>
        </p:nvSpPr>
        <p:spPr>
          <a:xfrm>
            <a:off x="1691640" y="5650992"/>
            <a:ext cx="9601200" cy="566928"/>
          </a:xfrm>
          <a:prstGeom prst="rect">
            <a:avLst/>
          </a:prstGeom>
          <a:noFill/>
        </p:spPr>
        <p:txBody>
          <a:bodyPr wrap="square">
            <a:spAutoFit/>
          </a:bodyPr>
          <a:lstStyle/>
          <a:p>
            <a:pPr algn="l"/>
            <a:r>
              <a:rPr sz="1100" b="0">
                <a:solidFill>
                  <a:srgbClr val="4A4A5A"/>
                </a:solidFill>
                <a:latin typeface="Calibri"/>
              </a:rPr>
              <a:t>Skill management and skill gap analysis share the page. Gap analysis is the most valuable feature but predicted to be the most ignored.</a:t>
            </a:r>
          </a:p>
        </p:txBody>
      </p:sp>
      <p:sp>
        <p:nvSpPr>
          <p:cNvPr id="28" name="TextBox 27"/>
          <p:cNvSpPr txBox="1"/>
          <p:nvPr/>
        </p:nvSpPr>
        <p:spPr>
          <a:xfrm>
            <a:off x="1691640" y="6035040"/>
            <a:ext cx="9601200" cy="256032"/>
          </a:xfrm>
          <a:prstGeom prst="rect">
            <a:avLst/>
          </a:prstGeom>
          <a:noFill/>
        </p:spPr>
        <p:txBody>
          <a:bodyPr wrap="square">
            <a:spAutoFit/>
          </a:bodyPr>
          <a:lstStyle/>
          <a:p>
            <a:pPr algn="l"/>
            <a:r>
              <a:rPr sz="1000" b="0">
                <a:solidFill>
                  <a:srgbClr val="CCD0D8"/>
                </a:solidFill>
                <a:latin typeface="Calibri"/>
              </a:rPr>
              <a:t>Key question: Are users looking at the right things at the right time?</a:t>
            </a:r>
          </a:p>
        </p:txBody>
      </p:sp>
      <p:sp>
        <p:nvSpPr>
          <p:cNvPr id="29" name="TextBox 28"/>
          <p:cNvSpPr txBox="1"/>
          <p:nvPr/>
        </p:nvSpPr>
        <p:spPr>
          <a:xfrm>
            <a:off x="365760" y="6492240"/>
            <a:ext cx="11430000" cy="274320"/>
          </a:xfrm>
          <a:prstGeom prst="rect">
            <a:avLst/>
          </a:prstGeom>
          <a:noFill/>
        </p:spPr>
        <p:txBody>
          <a:bodyPr wrap="square">
            <a:spAutoFit/>
          </a:bodyPr>
          <a:lstStyle/>
          <a:p>
            <a:pPr algn="l"/>
            <a:r>
              <a:rPr sz="1000" b="0">
                <a:solidFill>
                  <a:srgbClr val="CCD0D8"/>
                </a:solidFill>
                <a:latin typeface="Calibri"/>
              </a:rPr>
              <a:t>Analysis method: Predict entry points, scan paths and fixation density using visual weight, contrast, size and position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1800" b="1">
                <a:solidFill>
                  <a:srgbClr val="FFFFFF"/>
                </a:solidFill>
                <a:latin typeface="Calibri"/>
              </a:rPr>
              <a:t>SCREEN 1 — RESEARCH ARENA (Student View)</a:t>
            </a:r>
          </a:p>
        </p:txBody>
      </p:sp>
      <p:sp>
        <p:nvSpPr>
          <p:cNvPr id="5" name="TextBox 4"/>
          <p:cNvSpPr txBox="1"/>
          <p:nvPr/>
        </p:nvSpPr>
        <p:spPr>
          <a:xfrm>
            <a:off x="10515600" y="164592"/>
            <a:ext cx="1554480" cy="411480"/>
          </a:xfrm>
          <a:prstGeom prst="rect">
            <a:avLst/>
          </a:prstGeom>
          <a:noFill/>
        </p:spPr>
        <p:txBody>
          <a:bodyPr wrap="square">
            <a:spAutoFit/>
          </a:bodyPr>
          <a:lstStyle/>
          <a:p>
            <a:pPr algn="l"/>
            <a:r>
              <a:rPr sz="1100" b="0">
                <a:solidFill>
                  <a:srgbClr val="FFFFFF"/>
                </a:solidFill>
                <a:latin typeface="Calibri"/>
              </a:rPr>
              <a:t>Fixation Analysis</a:t>
            </a:r>
          </a:p>
        </p:txBody>
      </p:sp>
      <p:sp>
        <p:nvSpPr>
          <p:cNvPr id="6" name="Rectangle 5"/>
          <p:cNvSpPr/>
          <p:nvPr/>
        </p:nvSpPr>
        <p:spPr>
          <a:xfrm>
            <a:off x="365760" y="868680"/>
            <a:ext cx="5943600" cy="5806440"/>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14400"/>
            <a:ext cx="5486400" cy="274320"/>
          </a:xfrm>
          <a:prstGeom prst="rect">
            <a:avLst/>
          </a:prstGeom>
          <a:noFill/>
        </p:spPr>
        <p:txBody>
          <a:bodyPr wrap="square">
            <a:spAutoFit/>
          </a:bodyPr>
          <a:lstStyle/>
          <a:p>
            <a:pPr algn="l"/>
            <a:r>
              <a:rPr sz="900" b="1">
                <a:solidFill>
                  <a:srgbClr val="CCD0D8"/>
                </a:solidFill>
                <a:latin typeface="Calibri"/>
              </a:rPr>
              <a:t>Screen Mockup</a:t>
            </a:r>
          </a:p>
        </p:txBody>
      </p:sp>
      <p:sp>
        <p:nvSpPr>
          <p:cNvPr id="8" name="Rectangle 7"/>
          <p:cNvSpPr/>
          <p:nvPr/>
        </p:nvSpPr>
        <p:spPr>
          <a:xfrm>
            <a:off x="365760" y="1234440"/>
            <a:ext cx="960120" cy="54406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32588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389888"/>
            <a:ext cx="914400" cy="502920"/>
          </a:xfrm>
          <a:prstGeom prst="rect">
            <a:avLst/>
          </a:prstGeom>
          <a:noFill/>
        </p:spPr>
        <p:txBody>
          <a:bodyPr wrap="square">
            <a:spAutoFit/>
          </a:bodyPr>
          <a:lstStyle/>
          <a:p>
            <a:pPr algn="ctr"/>
            <a:r>
              <a:rPr sz="800" b="0">
                <a:solidFill>
                  <a:srgbClr val="4A4A5A"/>
                </a:solidFill>
                <a:latin typeface="Calibri"/>
              </a:rPr>
              <a:t>Home</a:t>
            </a:r>
          </a:p>
        </p:txBody>
      </p:sp>
      <p:sp>
        <p:nvSpPr>
          <p:cNvPr id="11" name="Rectangle 10"/>
          <p:cNvSpPr/>
          <p:nvPr/>
        </p:nvSpPr>
        <p:spPr>
          <a:xfrm>
            <a:off x="384048" y="2103120"/>
            <a:ext cx="914400" cy="6400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167128"/>
            <a:ext cx="914400" cy="502920"/>
          </a:xfrm>
          <a:prstGeom prst="rect">
            <a:avLst/>
          </a:prstGeom>
          <a:noFill/>
        </p:spPr>
        <p:txBody>
          <a:bodyPr wrap="square">
            <a:spAutoFit/>
          </a:bodyPr>
          <a:lstStyle/>
          <a:p>
            <a:pPr algn="ctr"/>
            <a:r>
              <a:rPr sz="800" b="0">
                <a:solidFill>
                  <a:srgbClr val="FFFFFF"/>
                </a:solidFill>
                <a:latin typeface="Calibri"/>
              </a:rPr>
              <a:t>Arena</a:t>
            </a:r>
          </a:p>
        </p:txBody>
      </p:sp>
      <p:sp>
        <p:nvSpPr>
          <p:cNvPr id="13" name="Rectangle 12"/>
          <p:cNvSpPr/>
          <p:nvPr/>
        </p:nvSpPr>
        <p:spPr>
          <a:xfrm>
            <a:off x="384048" y="288036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2944368"/>
            <a:ext cx="914400" cy="502920"/>
          </a:xfrm>
          <a:prstGeom prst="rect">
            <a:avLst/>
          </a:prstGeom>
          <a:noFill/>
        </p:spPr>
        <p:txBody>
          <a:bodyPr wrap="square">
            <a:spAutoFit/>
          </a:bodyPr>
          <a:lstStyle/>
          <a:p>
            <a:pPr algn="ctr"/>
            <a:r>
              <a:rPr sz="800" b="0">
                <a:solidFill>
                  <a:srgbClr val="4A4A5A"/>
                </a:solidFill>
                <a:latin typeface="Calibri"/>
              </a:rPr>
              <a:t>Skills</a:t>
            </a:r>
          </a:p>
        </p:txBody>
      </p:sp>
      <p:sp>
        <p:nvSpPr>
          <p:cNvPr id="15" name="Rectangle 14"/>
          <p:cNvSpPr/>
          <p:nvPr/>
        </p:nvSpPr>
        <p:spPr>
          <a:xfrm>
            <a:off x="384048" y="365760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3721608"/>
            <a:ext cx="914400" cy="502920"/>
          </a:xfrm>
          <a:prstGeom prst="rect">
            <a:avLst/>
          </a:prstGeom>
          <a:noFill/>
        </p:spPr>
        <p:txBody>
          <a:bodyPr wrap="square">
            <a:spAutoFit/>
          </a:bodyPr>
          <a:lstStyle/>
          <a:p>
            <a:pPr algn="ctr"/>
            <a:r>
              <a:rPr sz="800" b="0">
                <a:solidFill>
                  <a:srgbClr val="4A4A5A"/>
                </a:solidFill>
                <a:latin typeface="Calibri"/>
              </a:rPr>
              <a:t>Log</a:t>
            </a:r>
          </a:p>
        </p:txBody>
      </p:sp>
      <p:sp>
        <p:nvSpPr>
          <p:cNvPr id="17" name="Rectangle 16"/>
          <p:cNvSpPr/>
          <p:nvPr/>
        </p:nvSpPr>
        <p:spPr>
          <a:xfrm>
            <a:off x="384048" y="443484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498848"/>
            <a:ext cx="914400" cy="502920"/>
          </a:xfrm>
          <a:prstGeom prst="rect">
            <a:avLst/>
          </a:prstGeom>
          <a:noFill/>
        </p:spPr>
        <p:txBody>
          <a:bodyPr wrap="square">
            <a:spAutoFit/>
          </a:bodyPr>
          <a:lstStyle/>
          <a:p>
            <a:pPr algn="ctr"/>
            <a:r>
              <a:rPr sz="800" b="0">
                <a:solidFill>
                  <a:srgbClr val="4A4A5A"/>
                </a:solidFill>
                <a:latin typeface="Calibri"/>
              </a:rPr>
              <a:t>Bell</a:t>
            </a:r>
          </a:p>
        </p:txBody>
      </p:sp>
      <p:sp>
        <p:nvSpPr>
          <p:cNvPr id="19" name="Rectangle 18"/>
          <p:cNvSpPr/>
          <p:nvPr/>
        </p:nvSpPr>
        <p:spPr>
          <a:xfrm>
            <a:off x="1417320" y="1261872"/>
            <a:ext cx="4709160" cy="1234440"/>
          </a:xfrm>
          <a:prstGeom prst="rect">
            <a:avLst/>
          </a:prstGeom>
          <a:solidFill>
            <a:srgbClr val="E8F4FD"/>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08760" y="1325880"/>
            <a:ext cx="4389120" cy="384048"/>
          </a:xfrm>
          <a:prstGeom prst="rect">
            <a:avLst/>
          </a:prstGeom>
          <a:noFill/>
        </p:spPr>
        <p:txBody>
          <a:bodyPr wrap="square">
            <a:spAutoFit/>
          </a:bodyPr>
          <a:lstStyle/>
          <a:p>
            <a:pPr algn="l"/>
            <a:r>
              <a:rPr sz="1300" b="1">
                <a:solidFill>
                  <a:srgbClr val="0A295C"/>
                </a:solidFill>
                <a:latin typeface="Calibri"/>
              </a:rPr>
              <a:t>AI in Healthcare</a:t>
            </a:r>
          </a:p>
        </p:txBody>
      </p:sp>
      <p:sp>
        <p:nvSpPr>
          <p:cNvPr id="21" name="TextBox 20"/>
          <p:cNvSpPr txBox="1"/>
          <p:nvPr/>
        </p:nvSpPr>
        <p:spPr>
          <a:xfrm>
            <a:off x="1508760" y="1691640"/>
            <a:ext cx="4389120" cy="274320"/>
          </a:xfrm>
          <a:prstGeom prst="rect">
            <a:avLst/>
          </a:prstGeom>
          <a:noFill/>
        </p:spPr>
        <p:txBody>
          <a:bodyPr wrap="square">
            <a:spAutoFit/>
          </a:bodyPr>
          <a:lstStyle/>
          <a:p>
            <a:pPr algn="l"/>
            <a:r>
              <a:rPr sz="900" b="0">
                <a:solidFill>
                  <a:srgbClr val="4A4A5A"/>
                </a:solidFill>
                <a:latin typeface="Calibri"/>
              </a:rPr>
              <a:t>Deadline: 2025-07-01  •  Required Skills:</a:t>
            </a:r>
          </a:p>
        </p:txBody>
      </p:sp>
      <p:sp>
        <p:nvSpPr>
          <p:cNvPr id="22" name="Rounded Rectangle 21"/>
          <p:cNvSpPr/>
          <p:nvPr/>
        </p:nvSpPr>
        <p:spPr>
          <a:xfrm>
            <a:off x="1508760" y="1965960"/>
            <a:ext cx="1371600" cy="2743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54480" y="1984248"/>
            <a:ext cx="1280160" cy="228600"/>
          </a:xfrm>
          <a:prstGeom prst="rect">
            <a:avLst/>
          </a:prstGeom>
          <a:noFill/>
        </p:spPr>
        <p:txBody>
          <a:bodyPr wrap="square">
            <a:spAutoFit/>
          </a:bodyPr>
          <a:lstStyle/>
          <a:p>
            <a:pPr algn="ctr"/>
            <a:r>
              <a:rPr sz="800" b="1">
                <a:solidFill>
                  <a:srgbClr val="FFFFFF"/>
                </a:solidFill>
                <a:latin typeface="Calibri"/>
              </a:rPr>
              <a:t>Python</a:t>
            </a:r>
          </a:p>
        </p:txBody>
      </p:sp>
      <p:sp>
        <p:nvSpPr>
          <p:cNvPr id="24" name="Rounded Rectangle 23"/>
          <p:cNvSpPr/>
          <p:nvPr/>
        </p:nvSpPr>
        <p:spPr>
          <a:xfrm>
            <a:off x="2971800" y="1965960"/>
            <a:ext cx="1371600" cy="2743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1984248"/>
            <a:ext cx="1280160" cy="228600"/>
          </a:xfrm>
          <a:prstGeom prst="rect">
            <a:avLst/>
          </a:prstGeom>
          <a:noFill/>
        </p:spPr>
        <p:txBody>
          <a:bodyPr wrap="square">
            <a:spAutoFit/>
          </a:bodyPr>
          <a:lstStyle/>
          <a:p>
            <a:pPr algn="ctr"/>
            <a:r>
              <a:rPr sz="800" b="1">
                <a:solidFill>
                  <a:srgbClr val="FFFFFF"/>
                </a:solidFill>
                <a:latin typeface="Calibri"/>
              </a:rPr>
              <a:t>ML</a:t>
            </a:r>
          </a:p>
        </p:txBody>
      </p:sp>
      <p:sp>
        <p:nvSpPr>
          <p:cNvPr id="26" name="Rounded Rectangle 25"/>
          <p:cNvSpPr/>
          <p:nvPr/>
        </p:nvSpPr>
        <p:spPr>
          <a:xfrm>
            <a:off x="4434840" y="1965960"/>
            <a:ext cx="1371600" cy="2743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59" y="1984248"/>
            <a:ext cx="1280160" cy="228600"/>
          </a:xfrm>
          <a:prstGeom prst="rect">
            <a:avLst/>
          </a:prstGeom>
          <a:noFill/>
        </p:spPr>
        <p:txBody>
          <a:bodyPr wrap="square">
            <a:spAutoFit/>
          </a:bodyPr>
          <a:lstStyle/>
          <a:p>
            <a:pPr algn="ctr"/>
            <a:r>
              <a:rPr sz="800" b="1">
                <a:solidFill>
                  <a:srgbClr val="FFFFFF"/>
                </a:solidFill>
                <a:latin typeface="Calibri"/>
              </a:rPr>
              <a:t>Data Analysis</a:t>
            </a:r>
          </a:p>
        </p:txBody>
      </p:sp>
      <p:sp>
        <p:nvSpPr>
          <p:cNvPr id="28" name="Rectangle 27"/>
          <p:cNvSpPr/>
          <p:nvPr/>
        </p:nvSpPr>
        <p:spPr>
          <a:xfrm>
            <a:off x="1417320" y="2359152"/>
            <a:ext cx="4709160" cy="25603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08760" y="2377440"/>
            <a:ext cx="4572000" cy="219456"/>
          </a:xfrm>
          <a:prstGeom prst="rect">
            <a:avLst/>
          </a:prstGeom>
          <a:noFill/>
        </p:spPr>
        <p:txBody>
          <a:bodyPr wrap="square">
            <a:spAutoFit/>
          </a:bodyPr>
          <a:lstStyle/>
          <a:p>
            <a:pPr algn="l"/>
            <a:r>
              <a:rPr sz="900" b="1">
                <a:solidFill>
                  <a:srgbClr val="FFB703"/>
                </a:solidFill>
                <a:latin typeface="Calibri"/>
              </a:rPr>
              <a:t>↓ Start with a template</a:t>
            </a:r>
          </a:p>
        </p:txBody>
      </p:sp>
      <p:sp>
        <p:nvSpPr>
          <p:cNvPr id="30" name="Rectangle 29"/>
          <p:cNvSpPr/>
          <p:nvPr/>
        </p:nvSpPr>
        <p:spPr>
          <a:xfrm>
            <a:off x="1417320" y="2651760"/>
            <a:ext cx="1463040"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2679192"/>
            <a:ext cx="1463040" cy="256032"/>
          </a:xfrm>
          <a:prstGeom prst="rect">
            <a:avLst/>
          </a:prstGeom>
          <a:noFill/>
        </p:spPr>
        <p:txBody>
          <a:bodyPr wrap="square">
            <a:spAutoFit/>
          </a:bodyPr>
          <a:lstStyle/>
          <a:p>
            <a:pPr algn="ctr"/>
            <a:r>
              <a:rPr sz="800" b="1">
                <a:solidFill>
                  <a:srgbClr val="FFFFFF"/>
                </a:solidFill>
                <a:latin typeface="Calibri"/>
              </a:rPr>
              <a:t>Research</a:t>
            </a:r>
          </a:p>
        </p:txBody>
      </p:sp>
      <p:sp>
        <p:nvSpPr>
          <p:cNvPr id="32" name="Rectangle 31"/>
          <p:cNvSpPr/>
          <p:nvPr/>
        </p:nvSpPr>
        <p:spPr>
          <a:xfrm>
            <a:off x="2971800" y="2651760"/>
            <a:ext cx="1463040" cy="32004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71800" y="2679192"/>
            <a:ext cx="1463040" cy="256032"/>
          </a:xfrm>
          <a:prstGeom prst="rect">
            <a:avLst/>
          </a:prstGeom>
          <a:noFill/>
        </p:spPr>
        <p:txBody>
          <a:bodyPr wrap="square">
            <a:spAutoFit/>
          </a:bodyPr>
          <a:lstStyle/>
          <a:p>
            <a:pPr algn="ctr"/>
            <a:r>
              <a:rPr sz="800" b="1">
                <a:solidFill>
                  <a:srgbClr val="FFFFFF"/>
                </a:solidFill>
                <a:latin typeface="Calibri"/>
              </a:rPr>
              <a:t>Technical</a:t>
            </a:r>
          </a:p>
        </p:txBody>
      </p:sp>
      <p:sp>
        <p:nvSpPr>
          <p:cNvPr id="34" name="Rectangle 33"/>
          <p:cNvSpPr/>
          <p:nvPr/>
        </p:nvSpPr>
        <p:spPr>
          <a:xfrm>
            <a:off x="4526280" y="2651760"/>
            <a:ext cx="1463040" cy="32004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80" y="2679192"/>
            <a:ext cx="1463040" cy="256032"/>
          </a:xfrm>
          <a:prstGeom prst="rect">
            <a:avLst/>
          </a:prstGeom>
          <a:noFill/>
        </p:spPr>
        <p:txBody>
          <a:bodyPr wrap="square">
            <a:spAutoFit/>
          </a:bodyPr>
          <a:lstStyle/>
          <a:p>
            <a:pPr algn="ctr"/>
            <a:r>
              <a:rPr sz="800" b="1">
                <a:solidFill>
                  <a:srgbClr val="FFFFFF"/>
                </a:solidFill>
                <a:latin typeface="Calibri"/>
              </a:rPr>
              <a:t>Problem-Solving</a:t>
            </a:r>
          </a:p>
        </p:txBody>
      </p:sp>
      <p:sp>
        <p:nvSpPr>
          <p:cNvPr id="36" name="Rectangle 35"/>
          <p:cNvSpPr/>
          <p:nvPr/>
        </p:nvSpPr>
        <p:spPr>
          <a:xfrm>
            <a:off x="1417320" y="3035808"/>
            <a:ext cx="4709160" cy="1188720"/>
          </a:xfrm>
          <a:prstGeom prst="rect">
            <a:avLst/>
          </a:prstGeom>
          <a:solidFill>
            <a:srgbClr val="F8F9FA"/>
          </a:solidFill>
          <a:ln w="12700">
            <a:solidFill>
              <a:srgbClr val="CC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08760" y="3154680"/>
            <a:ext cx="4389120" cy="457200"/>
          </a:xfrm>
          <a:prstGeom prst="rect">
            <a:avLst/>
          </a:prstGeom>
          <a:noFill/>
        </p:spPr>
        <p:txBody>
          <a:bodyPr wrap="square">
            <a:spAutoFit/>
          </a:bodyPr>
          <a:lstStyle/>
          <a:p>
            <a:pPr algn="l"/>
            <a:r>
              <a:rPr sz="900" b="0">
                <a:solidFill>
                  <a:srgbClr val="CCD0D8"/>
                </a:solidFill>
                <a:latin typeface="Calibri"/>
              </a:rPr>
              <a:t>Click a template or write your proposal here...</a:t>
            </a:r>
          </a:p>
        </p:txBody>
      </p:sp>
      <p:sp>
        <p:nvSpPr>
          <p:cNvPr id="38" name="Rectangle 37"/>
          <p:cNvSpPr/>
          <p:nvPr/>
        </p:nvSpPr>
        <p:spPr>
          <a:xfrm>
            <a:off x="1417320" y="4297680"/>
            <a:ext cx="470916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17320" y="4325112"/>
            <a:ext cx="4709160" cy="329184"/>
          </a:xfrm>
          <a:prstGeom prst="rect">
            <a:avLst/>
          </a:prstGeom>
          <a:noFill/>
        </p:spPr>
        <p:txBody>
          <a:bodyPr wrap="square">
            <a:spAutoFit/>
          </a:bodyPr>
          <a:lstStyle/>
          <a:p>
            <a:pPr algn="ctr"/>
            <a:r>
              <a:rPr sz="1000" b="1">
                <a:solidFill>
                  <a:srgbClr val="FFFFFF"/>
                </a:solidFill>
                <a:latin typeface="Calibri"/>
              </a:rPr>
              <a:t>Submit Proposal</a:t>
            </a:r>
          </a:p>
        </p:txBody>
      </p:sp>
      <p:sp>
        <p:nvSpPr>
          <p:cNvPr id="40" name="Rectangle 39"/>
          <p:cNvSpPr/>
          <p:nvPr/>
        </p:nvSpPr>
        <p:spPr>
          <a:xfrm>
            <a:off x="1417320" y="4754880"/>
            <a:ext cx="4709160" cy="548640"/>
          </a:xfrm>
          <a:prstGeom prst="rect">
            <a:avLst/>
          </a:prstGeom>
          <a:solidFill>
            <a:srgbClr val="E6FBF4"/>
          </a:solidFill>
          <a:ln w="25400">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08760" y="4892040"/>
            <a:ext cx="4389120" cy="320040"/>
          </a:xfrm>
          <a:prstGeom prst="rect">
            <a:avLst/>
          </a:prstGeom>
          <a:noFill/>
        </p:spPr>
        <p:txBody>
          <a:bodyPr wrap="square">
            <a:spAutoFit/>
          </a:bodyPr>
          <a:lstStyle/>
          <a:p>
            <a:pPr algn="l"/>
            <a:r>
              <a:rPr sz="1000" b="1">
                <a:solidFill>
                  <a:srgbClr val="06D6A0"/>
                </a:solidFill>
                <a:latin typeface="Calibri"/>
              </a:rPr>
              <a:t>AI Score: 82/100 — Strong ✓</a:t>
            </a:r>
          </a:p>
        </p:txBody>
      </p:sp>
      <p:sp>
        <p:nvSpPr>
          <p:cNvPr id="42" name="Oval 41"/>
          <p:cNvSpPr/>
          <p:nvPr/>
        </p:nvSpPr>
        <p:spPr>
          <a:xfrm>
            <a:off x="1417320" y="1261872"/>
            <a:ext cx="640080" cy="448055"/>
          </a:xfrm>
          <a:prstGeom prst="ellipse">
            <a:avLst/>
          </a:prstGeom>
          <a:solidFill>
            <a:srgbClr val="FF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417320" y="1261872"/>
            <a:ext cx="411480" cy="288036"/>
          </a:xfrm>
          <a:prstGeom prst="ellipse">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17320" y="1261872"/>
            <a:ext cx="228600" cy="160020"/>
          </a:xfrm>
          <a:prstGeom prst="ellipse">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200400" y="4224528"/>
            <a:ext cx="502920" cy="301752"/>
          </a:xfrm>
          <a:prstGeom prst="ellipse">
            <a:avLst/>
          </a:prstGeom>
          <a:solidFill>
            <a:srgbClr val="FFD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200400" y="4224528"/>
            <a:ext cx="274320" cy="164592"/>
          </a:xfrm>
          <a:prstGeom prst="ellipse">
            <a:avLst/>
          </a:prstGeom>
          <a:solidFill>
            <a:srgbClr val="FFB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828800" y="2578608"/>
            <a:ext cx="274320" cy="201168"/>
          </a:xfrm>
          <a:prstGeom prst="ellipse">
            <a:avLst/>
          </a:prstGeom>
          <a:solidFill>
            <a:srgbClr val="FFE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463040" y="4736592"/>
            <a:ext cx="164592" cy="128016"/>
          </a:xfrm>
          <a:prstGeom prst="ellipse">
            <a:avLst/>
          </a:prstGeom>
          <a:solidFill>
            <a:srgbClr val="CCF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12080" y="5029200"/>
            <a:ext cx="822960" cy="256032"/>
          </a:xfrm>
          <a:prstGeom prst="rect">
            <a:avLst/>
          </a:prstGeom>
          <a:noFill/>
        </p:spPr>
        <p:txBody>
          <a:bodyPr wrap="square">
            <a:spAutoFit/>
          </a:bodyPr>
          <a:lstStyle/>
          <a:p>
            <a:pPr algn="l"/>
            <a:r>
              <a:rPr sz="800" b="1">
                <a:solidFill>
                  <a:srgbClr val="4A4A5A"/>
                </a:solidFill>
                <a:latin typeface="Calibri"/>
              </a:rPr>
              <a:t>Heat Intensity</a:t>
            </a:r>
          </a:p>
        </p:txBody>
      </p:sp>
      <p:sp>
        <p:nvSpPr>
          <p:cNvPr id="50" name="Rectangle 49"/>
          <p:cNvSpPr/>
          <p:nvPr/>
        </p:nvSpPr>
        <p:spPr>
          <a:xfrm>
            <a:off x="6537960" y="896112"/>
            <a:ext cx="5303520" cy="1298448"/>
          </a:xfrm>
          <a:prstGeom prst="rect">
            <a:avLst/>
          </a:prstGeom>
          <a:solidFill>
            <a:srgbClr val="E8F4FD"/>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37960" y="896112"/>
            <a:ext cx="73152" cy="12984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48272" y="987552"/>
            <a:ext cx="4846320" cy="365760"/>
          </a:xfrm>
          <a:prstGeom prst="rect">
            <a:avLst/>
          </a:prstGeom>
          <a:noFill/>
        </p:spPr>
        <p:txBody>
          <a:bodyPr wrap="square">
            <a:spAutoFit/>
          </a:bodyPr>
          <a:lstStyle/>
          <a:p>
            <a:pPr algn="l"/>
            <a:r>
              <a:rPr sz="1300" b="1">
                <a:solidFill>
                  <a:srgbClr val="00B4D8"/>
                </a:solidFill>
                <a:latin typeface="Calibri"/>
              </a:rPr>
              <a:t>Entry Point</a:t>
            </a:r>
          </a:p>
        </p:txBody>
      </p:sp>
      <p:sp>
        <p:nvSpPr>
          <p:cNvPr id="53" name="TextBox 52"/>
          <p:cNvSpPr txBox="1"/>
          <p:nvPr/>
        </p:nvSpPr>
        <p:spPr>
          <a:xfrm>
            <a:off x="6748272" y="1426464"/>
            <a:ext cx="4892040" cy="658368"/>
          </a:xfrm>
          <a:prstGeom prst="rect">
            <a:avLst/>
          </a:prstGeom>
          <a:noFill/>
        </p:spPr>
        <p:txBody>
          <a:bodyPr wrap="square">
            <a:spAutoFit/>
          </a:bodyPr>
          <a:lstStyle/>
          <a:p>
            <a:pPr algn="l"/>
            <a:r>
              <a:rPr sz="1100" b="0">
                <a:solidFill>
                  <a:srgbClr val="4A4A5A"/>
                </a:solidFill>
                <a:latin typeface="Calibri"/>
              </a:rPr>
              <a:t>Challenge title (bold, top-left, large font) — receives highest predicted fixation count.</a:t>
            </a:r>
          </a:p>
        </p:txBody>
      </p:sp>
      <p:sp>
        <p:nvSpPr>
          <p:cNvPr id="54" name="Rectangle 53"/>
          <p:cNvSpPr/>
          <p:nvPr/>
        </p:nvSpPr>
        <p:spPr>
          <a:xfrm>
            <a:off x="6537960" y="2359152"/>
            <a:ext cx="5303520" cy="1298448"/>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537960" y="2359152"/>
            <a:ext cx="73152" cy="129844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48272" y="2450592"/>
            <a:ext cx="4846320" cy="365760"/>
          </a:xfrm>
          <a:prstGeom prst="rect">
            <a:avLst/>
          </a:prstGeom>
          <a:noFill/>
        </p:spPr>
        <p:txBody>
          <a:bodyPr wrap="square">
            <a:spAutoFit/>
          </a:bodyPr>
          <a:lstStyle/>
          <a:p>
            <a:pPr algn="l"/>
            <a:r>
              <a:rPr sz="1300" b="1">
                <a:solidFill>
                  <a:srgbClr val="FF6B6B"/>
                </a:solidFill>
                <a:latin typeface="Calibri"/>
              </a:rPr>
              <a:t>Problem 1</a:t>
            </a:r>
          </a:p>
        </p:txBody>
      </p:sp>
      <p:sp>
        <p:nvSpPr>
          <p:cNvPr id="57" name="TextBox 56"/>
          <p:cNvSpPr txBox="1"/>
          <p:nvPr/>
        </p:nvSpPr>
        <p:spPr>
          <a:xfrm>
            <a:off x="6748272" y="2889504"/>
            <a:ext cx="4892040" cy="658368"/>
          </a:xfrm>
          <a:prstGeom prst="rect">
            <a:avLst/>
          </a:prstGeom>
          <a:noFill/>
        </p:spPr>
        <p:txBody>
          <a:bodyPr wrap="square">
            <a:spAutoFit/>
          </a:bodyPr>
          <a:lstStyle/>
          <a:p>
            <a:pPr algn="l"/>
            <a:r>
              <a:rPr sz="1100" b="0">
                <a:solidFill>
                  <a:srgbClr val="4A4A5A"/>
                </a:solidFill>
                <a:latin typeface="Calibri"/>
              </a:rPr>
              <a:t>Template buttons are small and below skill tags. Predicted to be skipped — users go straight to typing.</a:t>
            </a:r>
          </a:p>
        </p:txBody>
      </p:sp>
      <p:sp>
        <p:nvSpPr>
          <p:cNvPr id="58" name="Rectangle 57"/>
          <p:cNvSpPr/>
          <p:nvPr/>
        </p:nvSpPr>
        <p:spPr>
          <a:xfrm>
            <a:off x="6537960" y="3822191"/>
            <a:ext cx="5303520" cy="1298448"/>
          </a:xfrm>
          <a:prstGeom prst="rect">
            <a:avLst/>
          </a:prstGeom>
          <a:solidFill>
            <a:srgbClr val="FFF8E1"/>
          </a:solidFill>
          <a:ln w="254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537960" y="3822191"/>
            <a:ext cx="73152" cy="129844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48272" y="3913631"/>
            <a:ext cx="4846320" cy="365760"/>
          </a:xfrm>
          <a:prstGeom prst="rect">
            <a:avLst/>
          </a:prstGeom>
          <a:noFill/>
        </p:spPr>
        <p:txBody>
          <a:bodyPr wrap="square">
            <a:spAutoFit/>
          </a:bodyPr>
          <a:lstStyle/>
          <a:p>
            <a:pPr algn="l"/>
            <a:r>
              <a:rPr sz="1300" b="1">
                <a:solidFill>
                  <a:srgbClr val="FFB703"/>
                </a:solidFill>
                <a:latin typeface="Calibri"/>
              </a:rPr>
              <a:t>Problem 2</a:t>
            </a:r>
          </a:p>
        </p:txBody>
      </p:sp>
      <p:sp>
        <p:nvSpPr>
          <p:cNvPr id="61" name="TextBox 60"/>
          <p:cNvSpPr txBox="1"/>
          <p:nvPr/>
        </p:nvSpPr>
        <p:spPr>
          <a:xfrm>
            <a:off x="6748272" y="4352544"/>
            <a:ext cx="4892040" cy="658368"/>
          </a:xfrm>
          <a:prstGeom prst="rect">
            <a:avLst/>
          </a:prstGeom>
          <a:noFill/>
        </p:spPr>
        <p:txBody>
          <a:bodyPr wrap="square">
            <a:spAutoFit/>
          </a:bodyPr>
          <a:lstStyle/>
          <a:p>
            <a:pPr algn="l"/>
            <a:r>
              <a:rPr sz="1100" b="0">
                <a:solidFill>
                  <a:srgbClr val="4A4A5A"/>
                </a:solidFill>
                <a:latin typeface="Calibri"/>
              </a:rPr>
              <a:t>Submit button (high contrast purple) fixated before proposal is written — reverse of intended workflow.</a:t>
            </a:r>
          </a:p>
        </p:txBody>
      </p:sp>
      <p:sp>
        <p:nvSpPr>
          <p:cNvPr id="62" name="Rectangle 61"/>
          <p:cNvSpPr/>
          <p:nvPr/>
        </p:nvSpPr>
        <p:spPr>
          <a:xfrm>
            <a:off x="6537960" y="5285232"/>
            <a:ext cx="5303520" cy="1298448"/>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537960" y="5285232"/>
            <a:ext cx="73152" cy="129844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8272" y="5376672"/>
            <a:ext cx="4846320" cy="365760"/>
          </a:xfrm>
          <a:prstGeom prst="rect">
            <a:avLst/>
          </a:prstGeom>
          <a:noFill/>
        </p:spPr>
        <p:txBody>
          <a:bodyPr wrap="square">
            <a:spAutoFit/>
          </a:bodyPr>
          <a:lstStyle/>
          <a:p>
            <a:pPr algn="l"/>
            <a:r>
              <a:rPr sz="1300" b="1">
                <a:solidFill>
                  <a:srgbClr val="FF6B6B"/>
                </a:solidFill>
                <a:latin typeface="Calibri"/>
              </a:rPr>
              <a:t>Problem 3</a:t>
            </a:r>
          </a:p>
        </p:txBody>
      </p:sp>
      <p:sp>
        <p:nvSpPr>
          <p:cNvPr id="65" name="TextBox 64"/>
          <p:cNvSpPr txBox="1"/>
          <p:nvPr/>
        </p:nvSpPr>
        <p:spPr>
          <a:xfrm>
            <a:off x="6748272" y="5815584"/>
            <a:ext cx="4892040" cy="658368"/>
          </a:xfrm>
          <a:prstGeom prst="rect">
            <a:avLst/>
          </a:prstGeom>
          <a:noFill/>
        </p:spPr>
        <p:txBody>
          <a:bodyPr wrap="square">
            <a:spAutoFit/>
          </a:bodyPr>
          <a:lstStyle/>
          <a:p>
            <a:pPr algn="l"/>
            <a:r>
              <a:rPr sz="1100" b="0">
                <a:solidFill>
                  <a:srgbClr val="4A4A5A"/>
                </a:solidFill>
                <a:latin typeface="Calibri"/>
              </a:rPr>
              <a:t>AI Score is below the textarea — below fold. Predicted fixation count: near zero. Feature is invisible.</a:t>
            </a:r>
          </a:p>
        </p:txBody>
      </p:sp>
      <p:sp>
        <p:nvSpPr>
          <p:cNvPr id="66" name="TextBox 65"/>
          <p:cNvSpPr txBox="1"/>
          <p:nvPr/>
        </p:nvSpPr>
        <p:spPr>
          <a:xfrm>
            <a:off x="6537960" y="6492240"/>
            <a:ext cx="5303520" cy="274320"/>
          </a:xfrm>
          <a:prstGeom prst="rect">
            <a:avLst/>
          </a:prstGeom>
          <a:noFill/>
        </p:spPr>
        <p:txBody>
          <a:bodyPr wrap="square">
            <a:spAutoFit/>
          </a:bodyPr>
          <a:lstStyle/>
          <a:p>
            <a:pPr algn="l"/>
            <a:r>
              <a:rPr sz="1000" b="0">
                <a:solidFill>
                  <a:srgbClr val="CCD0D8"/>
                </a:solidFill>
                <a:latin typeface="Calibri"/>
              </a:rPr>
              <a:t>Predicted scan path: Title → Submit Button → Textarea → (templates &amp; score missed)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1800" b="1">
                <a:solidFill>
                  <a:srgbClr val="FFFFFF"/>
                </a:solidFill>
                <a:latin typeface="Calibri"/>
              </a:rPr>
              <a:t>SCREEN 2 — ADMIN RESEARCH ARENA</a:t>
            </a:r>
          </a:p>
        </p:txBody>
      </p:sp>
      <p:sp>
        <p:nvSpPr>
          <p:cNvPr id="5" name="Rectangle 4"/>
          <p:cNvSpPr/>
          <p:nvPr/>
        </p:nvSpPr>
        <p:spPr>
          <a:xfrm>
            <a:off x="365760" y="868680"/>
            <a:ext cx="5943600" cy="5806440"/>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5486400" cy="274320"/>
          </a:xfrm>
          <a:prstGeom prst="rect">
            <a:avLst/>
          </a:prstGeom>
          <a:noFill/>
        </p:spPr>
        <p:txBody>
          <a:bodyPr wrap="square">
            <a:spAutoFit/>
          </a:bodyPr>
          <a:lstStyle/>
          <a:p>
            <a:pPr algn="l"/>
            <a:r>
              <a:rPr sz="900" b="1">
                <a:solidFill>
                  <a:srgbClr val="CCD0D8"/>
                </a:solidFill>
                <a:latin typeface="Calibri"/>
              </a:rPr>
              <a:t>Admin Arena Mockup</a:t>
            </a:r>
          </a:p>
        </p:txBody>
      </p:sp>
      <p:sp>
        <p:nvSpPr>
          <p:cNvPr id="7" name="Rectangle 6"/>
          <p:cNvSpPr/>
          <p:nvPr/>
        </p:nvSpPr>
        <p:spPr>
          <a:xfrm>
            <a:off x="365760" y="1234440"/>
            <a:ext cx="960120" cy="54406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32588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389888"/>
            <a:ext cx="914400" cy="502920"/>
          </a:xfrm>
          <a:prstGeom prst="rect">
            <a:avLst/>
          </a:prstGeom>
          <a:noFill/>
        </p:spPr>
        <p:txBody>
          <a:bodyPr wrap="square">
            <a:spAutoFit/>
          </a:bodyPr>
          <a:lstStyle/>
          <a:p>
            <a:pPr algn="ctr"/>
            <a:r>
              <a:rPr sz="800" b="0">
                <a:solidFill>
                  <a:srgbClr val="4A4A5A"/>
                </a:solidFill>
                <a:latin typeface="Calibri"/>
              </a:rPr>
              <a:t>Home</a:t>
            </a:r>
          </a:p>
        </p:txBody>
      </p:sp>
      <p:sp>
        <p:nvSpPr>
          <p:cNvPr id="10" name="Rectangle 9"/>
          <p:cNvSpPr/>
          <p:nvPr/>
        </p:nvSpPr>
        <p:spPr>
          <a:xfrm>
            <a:off x="384048" y="210312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2167128"/>
            <a:ext cx="914400" cy="502920"/>
          </a:xfrm>
          <a:prstGeom prst="rect">
            <a:avLst/>
          </a:prstGeom>
          <a:noFill/>
        </p:spPr>
        <p:txBody>
          <a:bodyPr wrap="square">
            <a:spAutoFit/>
          </a:bodyPr>
          <a:lstStyle/>
          <a:p>
            <a:pPr algn="ctr"/>
            <a:r>
              <a:rPr sz="800" b="0">
                <a:solidFill>
                  <a:srgbClr val="4A4A5A"/>
                </a:solidFill>
                <a:latin typeface="Calibri"/>
              </a:rPr>
              <a:t>Students</a:t>
            </a:r>
          </a:p>
        </p:txBody>
      </p:sp>
      <p:sp>
        <p:nvSpPr>
          <p:cNvPr id="12" name="Rectangle 11"/>
          <p:cNvSpPr/>
          <p:nvPr/>
        </p:nvSpPr>
        <p:spPr>
          <a:xfrm>
            <a:off x="384048" y="2880360"/>
            <a:ext cx="914400" cy="6400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944368"/>
            <a:ext cx="914400" cy="502920"/>
          </a:xfrm>
          <a:prstGeom prst="rect">
            <a:avLst/>
          </a:prstGeom>
          <a:noFill/>
        </p:spPr>
        <p:txBody>
          <a:bodyPr wrap="square">
            <a:spAutoFit/>
          </a:bodyPr>
          <a:lstStyle/>
          <a:p>
            <a:pPr algn="ctr"/>
            <a:r>
              <a:rPr sz="800" b="0">
                <a:solidFill>
                  <a:srgbClr val="FFFFFF"/>
                </a:solidFill>
                <a:latin typeface="Calibri"/>
              </a:rPr>
              <a:t>Arena</a:t>
            </a:r>
          </a:p>
        </p:txBody>
      </p:sp>
      <p:sp>
        <p:nvSpPr>
          <p:cNvPr id="14" name="Rectangle 13"/>
          <p:cNvSpPr/>
          <p:nvPr/>
        </p:nvSpPr>
        <p:spPr>
          <a:xfrm>
            <a:off x="384048" y="365760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721608"/>
            <a:ext cx="914400" cy="502920"/>
          </a:xfrm>
          <a:prstGeom prst="rect">
            <a:avLst/>
          </a:prstGeom>
          <a:noFill/>
        </p:spPr>
        <p:txBody>
          <a:bodyPr wrap="square">
            <a:spAutoFit/>
          </a:bodyPr>
          <a:lstStyle/>
          <a:p>
            <a:pPr algn="ctr"/>
            <a:r>
              <a:rPr sz="800" b="0">
                <a:solidFill>
                  <a:srgbClr val="4A4A5A"/>
                </a:solidFill>
                <a:latin typeface="Calibri"/>
              </a:rPr>
              <a:t>Log</a:t>
            </a:r>
          </a:p>
        </p:txBody>
      </p:sp>
      <p:sp>
        <p:nvSpPr>
          <p:cNvPr id="16" name="Rectangle 15"/>
          <p:cNvSpPr/>
          <p:nvPr/>
        </p:nvSpPr>
        <p:spPr>
          <a:xfrm>
            <a:off x="384048" y="443484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4498848"/>
            <a:ext cx="914400" cy="502920"/>
          </a:xfrm>
          <a:prstGeom prst="rect">
            <a:avLst/>
          </a:prstGeom>
          <a:noFill/>
        </p:spPr>
        <p:txBody>
          <a:bodyPr wrap="square">
            <a:spAutoFit/>
          </a:bodyPr>
          <a:lstStyle/>
          <a:p>
            <a:pPr algn="ctr"/>
            <a:r>
              <a:rPr sz="800" b="0">
                <a:solidFill>
                  <a:srgbClr val="4A4A5A"/>
                </a:solidFill>
                <a:latin typeface="Calibri"/>
              </a:rPr>
              <a:t>Bell</a:t>
            </a:r>
          </a:p>
        </p:txBody>
      </p:sp>
      <p:sp>
        <p:nvSpPr>
          <p:cNvPr id="18" name="Rectangle 17"/>
          <p:cNvSpPr/>
          <p:nvPr/>
        </p:nvSpPr>
        <p:spPr>
          <a:xfrm>
            <a:off x="1417320" y="1298448"/>
            <a:ext cx="4709160" cy="1371600"/>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08760" y="1371600"/>
            <a:ext cx="2743200" cy="347472"/>
          </a:xfrm>
          <a:prstGeom prst="rect">
            <a:avLst/>
          </a:prstGeom>
          <a:noFill/>
        </p:spPr>
        <p:txBody>
          <a:bodyPr wrap="square">
            <a:spAutoFit/>
          </a:bodyPr>
          <a:lstStyle/>
          <a:p>
            <a:pPr algn="l"/>
            <a:r>
              <a:rPr sz="1200" b="1">
                <a:solidFill>
                  <a:srgbClr val="0A295C"/>
                </a:solidFill>
                <a:latin typeface="Calibri"/>
              </a:rPr>
              <a:t>Alice Johnson</a:t>
            </a:r>
          </a:p>
        </p:txBody>
      </p:sp>
      <p:sp>
        <p:nvSpPr>
          <p:cNvPr id="20" name="TextBox 19"/>
          <p:cNvSpPr txBox="1"/>
          <p:nvPr/>
        </p:nvSpPr>
        <p:spPr>
          <a:xfrm>
            <a:off x="1508760" y="1709928"/>
            <a:ext cx="2743200" cy="274320"/>
          </a:xfrm>
          <a:prstGeom prst="rect">
            <a:avLst/>
          </a:prstGeom>
          <a:noFill/>
        </p:spPr>
        <p:txBody>
          <a:bodyPr wrap="square">
            <a:spAutoFit/>
          </a:bodyPr>
          <a:lstStyle/>
          <a:p>
            <a:pPr algn="l"/>
            <a:r>
              <a:rPr sz="900" b="0">
                <a:solidFill>
                  <a:srgbClr val="4A4A5A"/>
                </a:solidFill>
                <a:latin typeface="Calibri"/>
              </a:rPr>
              <a:t>AI in Healthcare</a:t>
            </a:r>
          </a:p>
        </p:txBody>
      </p:sp>
      <p:sp>
        <p:nvSpPr>
          <p:cNvPr id="21" name="Rectangle 20"/>
          <p:cNvSpPr/>
          <p:nvPr/>
        </p:nvSpPr>
        <p:spPr>
          <a:xfrm>
            <a:off x="5029200" y="1389888"/>
            <a:ext cx="822960" cy="457200"/>
          </a:xfrm>
          <a:prstGeom prst="rect">
            <a:avLst/>
          </a:prstGeom>
          <a:solidFill>
            <a:srgbClr val="F8F9FA"/>
          </a:solidFill>
          <a:ln w="25400">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1389888"/>
            <a:ext cx="822960" cy="320040"/>
          </a:xfrm>
          <a:prstGeom prst="rect">
            <a:avLst/>
          </a:prstGeom>
          <a:noFill/>
        </p:spPr>
        <p:txBody>
          <a:bodyPr wrap="square">
            <a:spAutoFit/>
          </a:bodyPr>
          <a:lstStyle/>
          <a:p>
            <a:pPr algn="ctr"/>
            <a:r>
              <a:rPr sz="1400" b="1">
                <a:solidFill>
                  <a:srgbClr val="06D6A0"/>
                </a:solidFill>
                <a:latin typeface="Calibri"/>
              </a:rPr>
              <a:t>82</a:t>
            </a:r>
          </a:p>
        </p:txBody>
      </p:sp>
      <p:sp>
        <p:nvSpPr>
          <p:cNvPr id="23" name="TextBox 22"/>
          <p:cNvSpPr txBox="1"/>
          <p:nvPr/>
        </p:nvSpPr>
        <p:spPr>
          <a:xfrm>
            <a:off x="5029200" y="1682495"/>
            <a:ext cx="822960" cy="201168"/>
          </a:xfrm>
          <a:prstGeom prst="rect">
            <a:avLst/>
          </a:prstGeom>
          <a:noFill/>
        </p:spPr>
        <p:txBody>
          <a:bodyPr wrap="square">
            <a:spAutoFit/>
          </a:bodyPr>
          <a:lstStyle/>
          <a:p>
            <a:pPr algn="ctr"/>
            <a:r>
              <a:rPr sz="700" b="0">
                <a:solidFill>
                  <a:srgbClr val="CCD0D8"/>
                </a:solidFill>
                <a:latin typeface="Calibri"/>
              </a:rPr>
              <a:t>AI Score</a:t>
            </a:r>
          </a:p>
        </p:txBody>
      </p:sp>
      <p:sp>
        <p:nvSpPr>
          <p:cNvPr id="24" name="Rectangle 23"/>
          <p:cNvSpPr/>
          <p:nvPr/>
        </p:nvSpPr>
        <p:spPr>
          <a:xfrm>
            <a:off x="1508760" y="2121408"/>
            <a:ext cx="1463040" cy="34747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2148840"/>
            <a:ext cx="1463040" cy="274320"/>
          </a:xfrm>
          <a:prstGeom prst="rect">
            <a:avLst/>
          </a:prstGeom>
          <a:noFill/>
        </p:spPr>
        <p:txBody>
          <a:bodyPr wrap="square">
            <a:spAutoFit/>
          </a:bodyPr>
          <a:lstStyle/>
          <a:p>
            <a:pPr algn="ctr"/>
            <a:r>
              <a:rPr sz="1000" b="1">
                <a:solidFill>
                  <a:srgbClr val="FFFFFF"/>
                </a:solidFill>
                <a:latin typeface="Calibri"/>
              </a:rPr>
              <a:t>Approve</a:t>
            </a:r>
          </a:p>
        </p:txBody>
      </p:sp>
      <p:sp>
        <p:nvSpPr>
          <p:cNvPr id="26" name="Rectangle 25"/>
          <p:cNvSpPr/>
          <p:nvPr/>
        </p:nvSpPr>
        <p:spPr>
          <a:xfrm>
            <a:off x="3063240" y="2121408"/>
            <a:ext cx="1371600" cy="347472"/>
          </a:xfrm>
          <a:prstGeom prst="rect">
            <a:avLst/>
          </a:prstGeom>
          <a:solidFill>
            <a:srgbClr val="F8F9FA"/>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63240" y="2148840"/>
            <a:ext cx="1371600" cy="274320"/>
          </a:xfrm>
          <a:prstGeom prst="rect">
            <a:avLst/>
          </a:prstGeom>
          <a:noFill/>
        </p:spPr>
        <p:txBody>
          <a:bodyPr wrap="square">
            <a:spAutoFit/>
          </a:bodyPr>
          <a:lstStyle/>
          <a:p>
            <a:pPr algn="ctr"/>
            <a:r>
              <a:rPr sz="1000" b="0">
                <a:solidFill>
                  <a:srgbClr val="FF6B6B"/>
                </a:solidFill>
                <a:latin typeface="Calibri"/>
              </a:rPr>
              <a:t>Reject</a:t>
            </a:r>
          </a:p>
        </p:txBody>
      </p:sp>
      <p:sp>
        <p:nvSpPr>
          <p:cNvPr id="28" name="Rectangle 27"/>
          <p:cNvSpPr/>
          <p:nvPr/>
        </p:nvSpPr>
        <p:spPr>
          <a:xfrm>
            <a:off x="1417320" y="2807208"/>
            <a:ext cx="4709160" cy="1371600"/>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08760" y="2880360"/>
            <a:ext cx="2743200" cy="347472"/>
          </a:xfrm>
          <a:prstGeom prst="rect">
            <a:avLst/>
          </a:prstGeom>
          <a:noFill/>
        </p:spPr>
        <p:txBody>
          <a:bodyPr wrap="square">
            <a:spAutoFit/>
          </a:bodyPr>
          <a:lstStyle/>
          <a:p>
            <a:pPr algn="l"/>
            <a:r>
              <a:rPr sz="1200" b="1">
                <a:solidFill>
                  <a:srgbClr val="0A295C"/>
                </a:solidFill>
                <a:latin typeface="Calibri"/>
              </a:rPr>
              <a:t>Bob Smith</a:t>
            </a:r>
          </a:p>
        </p:txBody>
      </p:sp>
      <p:sp>
        <p:nvSpPr>
          <p:cNvPr id="30" name="TextBox 29"/>
          <p:cNvSpPr txBox="1"/>
          <p:nvPr/>
        </p:nvSpPr>
        <p:spPr>
          <a:xfrm>
            <a:off x="1508760" y="3218688"/>
            <a:ext cx="2743200" cy="274320"/>
          </a:xfrm>
          <a:prstGeom prst="rect">
            <a:avLst/>
          </a:prstGeom>
          <a:noFill/>
        </p:spPr>
        <p:txBody>
          <a:bodyPr wrap="square">
            <a:spAutoFit/>
          </a:bodyPr>
          <a:lstStyle/>
          <a:p>
            <a:pPr algn="l"/>
            <a:r>
              <a:rPr sz="900" b="0">
                <a:solidFill>
                  <a:srgbClr val="4A4A5A"/>
                </a:solidFill>
                <a:latin typeface="Calibri"/>
              </a:rPr>
              <a:t>NLP Research Tool</a:t>
            </a:r>
          </a:p>
        </p:txBody>
      </p:sp>
      <p:sp>
        <p:nvSpPr>
          <p:cNvPr id="31" name="Rectangle 30"/>
          <p:cNvSpPr/>
          <p:nvPr/>
        </p:nvSpPr>
        <p:spPr>
          <a:xfrm>
            <a:off x="5029200" y="2898648"/>
            <a:ext cx="822960" cy="457200"/>
          </a:xfrm>
          <a:prstGeom prst="rect">
            <a:avLst/>
          </a:prstGeom>
          <a:solidFill>
            <a:srgbClr val="F8F9FA"/>
          </a:solidFill>
          <a:ln w="254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2898648"/>
            <a:ext cx="822960" cy="320040"/>
          </a:xfrm>
          <a:prstGeom prst="rect">
            <a:avLst/>
          </a:prstGeom>
          <a:noFill/>
        </p:spPr>
        <p:txBody>
          <a:bodyPr wrap="square">
            <a:spAutoFit/>
          </a:bodyPr>
          <a:lstStyle/>
          <a:p>
            <a:pPr algn="ctr"/>
            <a:r>
              <a:rPr sz="1400" b="1">
                <a:solidFill>
                  <a:srgbClr val="FFB703"/>
                </a:solidFill>
                <a:latin typeface="Calibri"/>
              </a:rPr>
              <a:t>61</a:t>
            </a:r>
          </a:p>
        </p:txBody>
      </p:sp>
      <p:sp>
        <p:nvSpPr>
          <p:cNvPr id="33" name="TextBox 32"/>
          <p:cNvSpPr txBox="1"/>
          <p:nvPr/>
        </p:nvSpPr>
        <p:spPr>
          <a:xfrm>
            <a:off x="5029200" y="3191256"/>
            <a:ext cx="822960" cy="201168"/>
          </a:xfrm>
          <a:prstGeom prst="rect">
            <a:avLst/>
          </a:prstGeom>
          <a:noFill/>
        </p:spPr>
        <p:txBody>
          <a:bodyPr wrap="square">
            <a:spAutoFit/>
          </a:bodyPr>
          <a:lstStyle/>
          <a:p>
            <a:pPr algn="ctr"/>
            <a:r>
              <a:rPr sz="700" b="0">
                <a:solidFill>
                  <a:srgbClr val="CCD0D8"/>
                </a:solidFill>
                <a:latin typeface="Calibri"/>
              </a:rPr>
              <a:t>AI Score</a:t>
            </a:r>
          </a:p>
        </p:txBody>
      </p:sp>
      <p:sp>
        <p:nvSpPr>
          <p:cNvPr id="34" name="Rectangle 33"/>
          <p:cNvSpPr/>
          <p:nvPr/>
        </p:nvSpPr>
        <p:spPr>
          <a:xfrm>
            <a:off x="1508760" y="3630168"/>
            <a:ext cx="1463040" cy="34747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08760" y="3657600"/>
            <a:ext cx="1463040" cy="274320"/>
          </a:xfrm>
          <a:prstGeom prst="rect">
            <a:avLst/>
          </a:prstGeom>
          <a:noFill/>
        </p:spPr>
        <p:txBody>
          <a:bodyPr wrap="square">
            <a:spAutoFit/>
          </a:bodyPr>
          <a:lstStyle/>
          <a:p>
            <a:pPr algn="ctr"/>
            <a:r>
              <a:rPr sz="1000" b="1">
                <a:solidFill>
                  <a:srgbClr val="FFFFFF"/>
                </a:solidFill>
                <a:latin typeface="Calibri"/>
              </a:rPr>
              <a:t>Approve</a:t>
            </a:r>
          </a:p>
        </p:txBody>
      </p:sp>
      <p:sp>
        <p:nvSpPr>
          <p:cNvPr id="36" name="Rectangle 35"/>
          <p:cNvSpPr/>
          <p:nvPr/>
        </p:nvSpPr>
        <p:spPr>
          <a:xfrm>
            <a:off x="3063240" y="3630168"/>
            <a:ext cx="1371600" cy="347472"/>
          </a:xfrm>
          <a:prstGeom prst="rect">
            <a:avLst/>
          </a:prstGeom>
          <a:solidFill>
            <a:srgbClr val="F8F9FA"/>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63240" y="3657600"/>
            <a:ext cx="1371600" cy="274320"/>
          </a:xfrm>
          <a:prstGeom prst="rect">
            <a:avLst/>
          </a:prstGeom>
          <a:noFill/>
        </p:spPr>
        <p:txBody>
          <a:bodyPr wrap="square">
            <a:spAutoFit/>
          </a:bodyPr>
          <a:lstStyle/>
          <a:p>
            <a:pPr algn="ctr"/>
            <a:r>
              <a:rPr sz="1000" b="0">
                <a:solidFill>
                  <a:srgbClr val="FF6B6B"/>
                </a:solidFill>
                <a:latin typeface="Calibri"/>
              </a:rPr>
              <a:t>Reject</a:t>
            </a:r>
          </a:p>
        </p:txBody>
      </p:sp>
      <p:sp>
        <p:nvSpPr>
          <p:cNvPr id="38" name="Rectangle 37"/>
          <p:cNvSpPr/>
          <p:nvPr/>
        </p:nvSpPr>
        <p:spPr>
          <a:xfrm>
            <a:off x="1417320" y="4315968"/>
            <a:ext cx="4709160" cy="1371600"/>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08760" y="4389120"/>
            <a:ext cx="2743200" cy="347472"/>
          </a:xfrm>
          <a:prstGeom prst="rect">
            <a:avLst/>
          </a:prstGeom>
          <a:noFill/>
        </p:spPr>
        <p:txBody>
          <a:bodyPr wrap="square">
            <a:spAutoFit/>
          </a:bodyPr>
          <a:lstStyle/>
          <a:p>
            <a:pPr algn="l"/>
            <a:r>
              <a:rPr sz="1200" b="1">
                <a:solidFill>
                  <a:srgbClr val="0A295C"/>
                </a:solidFill>
                <a:latin typeface="Calibri"/>
              </a:rPr>
              <a:t>Sara Lee</a:t>
            </a:r>
          </a:p>
        </p:txBody>
      </p:sp>
      <p:sp>
        <p:nvSpPr>
          <p:cNvPr id="40" name="TextBox 39"/>
          <p:cNvSpPr txBox="1"/>
          <p:nvPr/>
        </p:nvSpPr>
        <p:spPr>
          <a:xfrm>
            <a:off x="1508760" y="4727448"/>
            <a:ext cx="2743200" cy="274320"/>
          </a:xfrm>
          <a:prstGeom prst="rect">
            <a:avLst/>
          </a:prstGeom>
          <a:noFill/>
        </p:spPr>
        <p:txBody>
          <a:bodyPr wrap="square">
            <a:spAutoFit/>
          </a:bodyPr>
          <a:lstStyle/>
          <a:p>
            <a:pPr algn="l"/>
            <a:r>
              <a:rPr sz="900" b="0">
                <a:solidFill>
                  <a:srgbClr val="4A4A5A"/>
                </a:solidFill>
                <a:latin typeface="Calibri"/>
              </a:rPr>
              <a:t>Cybersecurity Framework</a:t>
            </a:r>
          </a:p>
        </p:txBody>
      </p:sp>
      <p:sp>
        <p:nvSpPr>
          <p:cNvPr id="41" name="Rectangle 40"/>
          <p:cNvSpPr/>
          <p:nvPr/>
        </p:nvSpPr>
        <p:spPr>
          <a:xfrm>
            <a:off x="5029200" y="4407407"/>
            <a:ext cx="822960" cy="457200"/>
          </a:xfrm>
          <a:prstGeom prst="rect">
            <a:avLst/>
          </a:prstGeom>
          <a:solidFill>
            <a:srgbClr val="F8F9FA"/>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0" y="4407407"/>
            <a:ext cx="822960" cy="320040"/>
          </a:xfrm>
          <a:prstGeom prst="rect">
            <a:avLst/>
          </a:prstGeom>
          <a:noFill/>
        </p:spPr>
        <p:txBody>
          <a:bodyPr wrap="square">
            <a:spAutoFit/>
          </a:bodyPr>
          <a:lstStyle/>
          <a:p>
            <a:pPr algn="ctr"/>
            <a:r>
              <a:rPr sz="1400" b="1">
                <a:solidFill>
                  <a:srgbClr val="FF6B6B"/>
                </a:solidFill>
                <a:latin typeface="Calibri"/>
              </a:rPr>
              <a:t>5</a:t>
            </a:r>
          </a:p>
        </p:txBody>
      </p:sp>
      <p:sp>
        <p:nvSpPr>
          <p:cNvPr id="43" name="TextBox 42"/>
          <p:cNvSpPr txBox="1"/>
          <p:nvPr/>
        </p:nvSpPr>
        <p:spPr>
          <a:xfrm>
            <a:off x="5029200" y="4700016"/>
            <a:ext cx="822960" cy="201168"/>
          </a:xfrm>
          <a:prstGeom prst="rect">
            <a:avLst/>
          </a:prstGeom>
          <a:noFill/>
        </p:spPr>
        <p:txBody>
          <a:bodyPr wrap="square">
            <a:spAutoFit/>
          </a:bodyPr>
          <a:lstStyle/>
          <a:p>
            <a:pPr algn="ctr"/>
            <a:r>
              <a:rPr sz="700" b="0">
                <a:solidFill>
                  <a:srgbClr val="CCD0D8"/>
                </a:solidFill>
                <a:latin typeface="Calibri"/>
              </a:rPr>
              <a:t>AI Score</a:t>
            </a:r>
          </a:p>
        </p:txBody>
      </p:sp>
      <p:sp>
        <p:nvSpPr>
          <p:cNvPr id="44" name="Rectangle 43"/>
          <p:cNvSpPr/>
          <p:nvPr/>
        </p:nvSpPr>
        <p:spPr>
          <a:xfrm>
            <a:off x="1508760" y="5138928"/>
            <a:ext cx="1463040" cy="34747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08760" y="5166359"/>
            <a:ext cx="1463040" cy="274320"/>
          </a:xfrm>
          <a:prstGeom prst="rect">
            <a:avLst/>
          </a:prstGeom>
          <a:noFill/>
        </p:spPr>
        <p:txBody>
          <a:bodyPr wrap="square">
            <a:spAutoFit/>
          </a:bodyPr>
          <a:lstStyle/>
          <a:p>
            <a:pPr algn="ctr"/>
            <a:r>
              <a:rPr sz="1000" b="1">
                <a:solidFill>
                  <a:srgbClr val="FFFFFF"/>
                </a:solidFill>
                <a:latin typeface="Calibri"/>
              </a:rPr>
              <a:t>Approve</a:t>
            </a:r>
          </a:p>
        </p:txBody>
      </p:sp>
      <p:sp>
        <p:nvSpPr>
          <p:cNvPr id="46" name="Rectangle 45"/>
          <p:cNvSpPr/>
          <p:nvPr/>
        </p:nvSpPr>
        <p:spPr>
          <a:xfrm>
            <a:off x="3063240" y="5138928"/>
            <a:ext cx="1371600" cy="347472"/>
          </a:xfrm>
          <a:prstGeom prst="rect">
            <a:avLst/>
          </a:prstGeom>
          <a:solidFill>
            <a:srgbClr val="F8F9FA"/>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63240" y="5166359"/>
            <a:ext cx="1371600" cy="274320"/>
          </a:xfrm>
          <a:prstGeom prst="rect">
            <a:avLst/>
          </a:prstGeom>
          <a:noFill/>
        </p:spPr>
        <p:txBody>
          <a:bodyPr wrap="square">
            <a:spAutoFit/>
          </a:bodyPr>
          <a:lstStyle/>
          <a:p>
            <a:pPr algn="ctr"/>
            <a:r>
              <a:rPr sz="1000" b="0">
                <a:solidFill>
                  <a:srgbClr val="FF6B6B"/>
                </a:solidFill>
                <a:latin typeface="Calibri"/>
              </a:rPr>
              <a:t>Reject</a:t>
            </a:r>
          </a:p>
        </p:txBody>
      </p:sp>
      <p:sp>
        <p:nvSpPr>
          <p:cNvPr id="48" name="Oval 47"/>
          <p:cNvSpPr/>
          <p:nvPr/>
        </p:nvSpPr>
        <p:spPr>
          <a:xfrm>
            <a:off x="1417320" y="1298448"/>
            <a:ext cx="594360" cy="416051"/>
          </a:xfrm>
          <a:prstGeom prst="ellipse">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417320" y="2807208"/>
            <a:ext cx="365760" cy="256031"/>
          </a:xfrm>
          <a:prstGeom prst="ellipse">
            <a:avLst/>
          </a:prstGeom>
          <a:solidFill>
            <a:srgbClr val="FFC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481328" y="2121408"/>
            <a:ext cx="457200" cy="320040"/>
          </a:xfrm>
          <a:prstGeom prst="ellipse">
            <a:avLst/>
          </a:prstGeom>
          <a:solidFill>
            <a:srgbClr val="FFD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029200" y="1389888"/>
            <a:ext cx="164592" cy="115214"/>
          </a:xfrm>
          <a:prstGeom prst="ellipse">
            <a:avLst/>
          </a:prstGeom>
          <a:solidFill>
            <a:srgbClr val="CCF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37960" y="896112"/>
            <a:ext cx="5303520" cy="1298448"/>
          </a:xfrm>
          <a:prstGeom prst="rect">
            <a:avLst/>
          </a:prstGeom>
          <a:solidFill>
            <a:srgbClr val="E8F4FD"/>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37960" y="896112"/>
            <a:ext cx="73152" cy="12984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48272" y="987552"/>
            <a:ext cx="4846320" cy="365760"/>
          </a:xfrm>
          <a:prstGeom prst="rect">
            <a:avLst/>
          </a:prstGeom>
          <a:noFill/>
        </p:spPr>
        <p:txBody>
          <a:bodyPr wrap="square">
            <a:spAutoFit/>
          </a:bodyPr>
          <a:lstStyle/>
          <a:p>
            <a:pPr algn="l"/>
            <a:r>
              <a:rPr sz="1300" b="1">
                <a:solidFill>
                  <a:srgbClr val="00B4D8"/>
                </a:solidFill>
                <a:latin typeface="Calibri"/>
              </a:rPr>
              <a:t>Entry Point</a:t>
            </a:r>
          </a:p>
        </p:txBody>
      </p:sp>
      <p:sp>
        <p:nvSpPr>
          <p:cNvPr id="55" name="TextBox 54"/>
          <p:cNvSpPr txBox="1"/>
          <p:nvPr/>
        </p:nvSpPr>
        <p:spPr>
          <a:xfrm>
            <a:off x="6748272" y="1399032"/>
            <a:ext cx="4892040" cy="685800"/>
          </a:xfrm>
          <a:prstGeom prst="rect">
            <a:avLst/>
          </a:prstGeom>
          <a:noFill/>
        </p:spPr>
        <p:txBody>
          <a:bodyPr wrap="square">
            <a:spAutoFit/>
          </a:bodyPr>
          <a:lstStyle/>
          <a:p>
            <a:pPr algn="l"/>
            <a:r>
              <a:rPr sz="1100" b="0">
                <a:solidFill>
                  <a:srgbClr val="4A4A5A"/>
                </a:solidFill>
                <a:latin typeface="Calibri"/>
              </a:rPr>
              <a:t>Student name dominates — bold, 12pt, top-left of each row. Admin begins here for every proposal.</a:t>
            </a:r>
          </a:p>
        </p:txBody>
      </p:sp>
      <p:sp>
        <p:nvSpPr>
          <p:cNvPr id="56" name="Rectangle 55"/>
          <p:cNvSpPr/>
          <p:nvPr/>
        </p:nvSpPr>
        <p:spPr>
          <a:xfrm>
            <a:off x="6537960" y="2359152"/>
            <a:ext cx="5303520" cy="1298448"/>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537960" y="2359152"/>
            <a:ext cx="73152" cy="129844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748272" y="2450592"/>
            <a:ext cx="4846320" cy="365760"/>
          </a:xfrm>
          <a:prstGeom prst="rect">
            <a:avLst/>
          </a:prstGeom>
          <a:noFill/>
        </p:spPr>
        <p:txBody>
          <a:bodyPr wrap="square">
            <a:spAutoFit/>
          </a:bodyPr>
          <a:lstStyle/>
          <a:p>
            <a:pPr algn="l"/>
            <a:r>
              <a:rPr sz="1300" b="1">
                <a:solidFill>
                  <a:srgbClr val="FF6B6B"/>
                </a:solidFill>
                <a:latin typeface="Calibri"/>
              </a:rPr>
              <a:t>Critical Issue</a:t>
            </a:r>
          </a:p>
        </p:txBody>
      </p:sp>
      <p:sp>
        <p:nvSpPr>
          <p:cNvPr id="59" name="TextBox 58"/>
          <p:cNvSpPr txBox="1"/>
          <p:nvPr/>
        </p:nvSpPr>
        <p:spPr>
          <a:xfrm>
            <a:off x="6748272" y="2862072"/>
            <a:ext cx="4892040" cy="685800"/>
          </a:xfrm>
          <a:prstGeom prst="rect">
            <a:avLst/>
          </a:prstGeom>
          <a:noFill/>
        </p:spPr>
        <p:txBody>
          <a:bodyPr wrap="square">
            <a:spAutoFit/>
          </a:bodyPr>
          <a:lstStyle/>
          <a:p>
            <a:pPr algn="l"/>
            <a:r>
              <a:rPr sz="1100" b="0">
                <a:solidFill>
                  <a:srgbClr val="4A4A5A"/>
                </a:solidFill>
                <a:latin typeface="Calibri"/>
              </a:rPr>
              <a:t>AI Score badge (top-right, small) is predicted to receive near-zero fixation. F-pattern reading ends before the right column.</a:t>
            </a:r>
          </a:p>
        </p:txBody>
      </p:sp>
      <p:sp>
        <p:nvSpPr>
          <p:cNvPr id="60" name="Rectangle 59"/>
          <p:cNvSpPr/>
          <p:nvPr/>
        </p:nvSpPr>
        <p:spPr>
          <a:xfrm>
            <a:off x="6537960" y="3822191"/>
            <a:ext cx="5303520" cy="1298448"/>
          </a:xfrm>
          <a:prstGeom prst="rect">
            <a:avLst/>
          </a:prstGeom>
          <a:solidFill>
            <a:srgbClr val="FFF8E1"/>
          </a:solidFill>
          <a:ln w="254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537960" y="3822191"/>
            <a:ext cx="73152" cy="129844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48272" y="3913631"/>
            <a:ext cx="4846320" cy="365760"/>
          </a:xfrm>
          <a:prstGeom prst="rect">
            <a:avLst/>
          </a:prstGeom>
          <a:noFill/>
        </p:spPr>
        <p:txBody>
          <a:bodyPr wrap="square">
            <a:spAutoFit/>
          </a:bodyPr>
          <a:lstStyle/>
          <a:p>
            <a:pPr algn="l"/>
            <a:r>
              <a:rPr sz="1300" b="1">
                <a:solidFill>
                  <a:srgbClr val="FFB703"/>
                </a:solidFill>
                <a:latin typeface="Calibri"/>
              </a:rPr>
              <a:t>Workflow Risk</a:t>
            </a:r>
          </a:p>
        </p:txBody>
      </p:sp>
      <p:sp>
        <p:nvSpPr>
          <p:cNvPr id="63" name="TextBox 62"/>
          <p:cNvSpPr txBox="1"/>
          <p:nvPr/>
        </p:nvSpPr>
        <p:spPr>
          <a:xfrm>
            <a:off x="6748272" y="4325112"/>
            <a:ext cx="4892040" cy="685800"/>
          </a:xfrm>
          <a:prstGeom prst="rect">
            <a:avLst/>
          </a:prstGeom>
          <a:noFill/>
        </p:spPr>
        <p:txBody>
          <a:bodyPr wrap="square">
            <a:spAutoFit/>
          </a:bodyPr>
          <a:lstStyle/>
          <a:p>
            <a:pPr algn="l"/>
            <a:r>
              <a:rPr sz="1100" b="0">
                <a:solidFill>
                  <a:srgbClr val="4A4A5A"/>
                </a:solidFill>
                <a:latin typeface="Calibri"/>
              </a:rPr>
              <a:t>Approve button (solid green, high contrast) is fixated before the proposal text is read. Admin may approve without checking content.</a:t>
            </a:r>
          </a:p>
        </p:txBody>
      </p:sp>
      <p:sp>
        <p:nvSpPr>
          <p:cNvPr id="64" name="Rectangle 63"/>
          <p:cNvSpPr/>
          <p:nvPr/>
        </p:nvSpPr>
        <p:spPr>
          <a:xfrm>
            <a:off x="6537960" y="5285232"/>
            <a:ext cx="5303520" cy="1298448"/>
          </a:xfrm>
          <a:prstGeom prst="rect">
            <a:avLst/>
          </a:prstGeom>
          <a:solidFill>
            <a:srgbClr val="F3EE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537960" y="5285232"/>
            <a:ext cx="73152" cy="12984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748272" y="5376672"/>
            <a:ext cx="4846320" cy="365760"/>
          </a:xfrm>
          <a:prstGeom prst="rect">
            <a:avLst/>
          </a:prstGeom>
          <a:noFill/>
        </p:spPr>
        <p:txBody>
          <a:bodyPr wrap="square">
            <a:spAutoFit/>
          </a:bodyPr>
          <a:lstStyle/>
          <a:p>
            <a:pPr algn="l"/>
            <a:r>
              <a:rPr sz="1300" b="1">
                <a:solidFill>
                  <a:srgbClr val="7C3AED"/>
                </a:solidFill>
                <a:latin typeface="Calibri"/>
              </a:rPr>
              <a:t>Scan Path</a:t>
            </a:r>
          </a:p>
        </p:txBody>
      </p:sp>
      <p:sp>
        <p:nvSpPr>
          <p:cNvPr id="67" name="TextBox 66"/>
          <p:cNvSpPr txBox="1"/>
          <p:nvPr/>
        </p:nvSpPr>
        <p:spPr>
          <a:xfrm>
            <a:off x="6748272" y="5788152"/>
            <a:ext cx="4892040" cy="685800"/>
          </a:xfrm>
          <a:prstGeom prst="rect">
            <a:avLst/>
          </a:prstGeom>
          <a:noFill/>
        </p:spPr>
        <p:txBody>
          <a:bodyPr wrap="square">
            <a:spAutoFit/>
          </a:bodyPr>
          <a:lstStyle/>
          <a:p>
            <a:pPr algn="l"/>
            <a:r>
              <a:rPr sz="1100" b="0">
                <a:solidFill>
                  <a:srgbClr val="4A4A5A"/>
                </a:solidFill>
                <a:latin typeface="Calibri"/>
              </a:rPr>
              <a:t>Name → Approve → Reject → Challenge name → (AI Score completely missed in F-pattern)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1800" b="1">
                <a:solidFill>
                  <a:srgbClr val="FFFFFF"/>
                </a:solidFill>
                <a:latin typeface="Calibri"/>
              </a:rPr>
              <a:t>SCREEN 3 — STUDENT SKILLS PAGE</a:t>
            </a:r>
          </a:p>
        </p:txBody>
      </p:sp>
      <p:sp>
        <p:nvSpPr>
          <p:cNvPr id="5" name="Rectangle 4"/>
          <p:cNvSpPr/>
          <p:nvPr/>
        </p:nvSpPr>
        <p:spPr>
          <a:xfrm>
            <a:off x="365760" y="868680"/>
            <a:ext cx="5943600" cy="5806440"/>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14400"/>
            <a:ext cx="5486400" cy="274320"/>
          </a:xfrm>
          <a:prstGeom prst="rect">
            <a:avLst/>
          </a:prstGeom>
          <a:noFill/>
        </p:spPr>
        <p:txBody>
          <a:bodyPr wrap="square">
            <a:spAutoFit/>
          </a:bodyPr>
          <a:lstStyle/>
          <a:p>
            <a:pPr algn="l"/>
            <a:r>
              <a:rPr sz="900" b="1">
                <a:solidFill>
                  <a:srgbClr val="CCD0D8"/>
                </a:solidFill>
                <a:latin typeface="Calibri"/>
              </a:rPr>
              <a:t>Skills Page Mockup</a:t>
            </a:r>
          </a:p>
        </p:txBody>
      </p:sp>
      <p:sp>
        <p:nvSpPr>
          <p:cNvPr id="7" name="Rectangle 6"/>
          <p:cNvSpPr/>
          <p:nvPr/>
        </p:nvSpPr>
        <p:spPr>
          <a:xfrm>
            <a:off x="365760" y="1234440"/>
            <a:ext cx="960120" cy="54406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32588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389888"/>
            <a:ext cx="914400" cy="502920"/>
          </a:xfrm>
          <a:prstGeom prst="rect">
            <a:avLst/>
          </a:prstGeom>
          <a:noFill/>
        </p:spPr>
        <p:txBody>
          <a:bodyPr wrap="square">
            <a:spAutoFit/>
          </a:bodyPr>
          <a:lstStyle/>
          <a:p>
            <a:pPr algn="ctr"/>
            <a:r>
              <a:rPr sz="800" b="0">
                <a:solidFill>
                  <a:srgbClr val="4A4A5A"/>
                </a:solidFill>
                <a:latin typeface="Calibri"/>
              </a:rPr>
              <a:t>Home</a:t>
            </a:r>
          </a:p>
        </p:txBody>
      </p:sp>
      <p:sp>
        <p:nvSpPr>
          <p:cNvPr id="10" name="Rectangle 9"/>
          <p:cNvSpPr/>
          <p:nvPr/>
        </p:nvSpPr>
        <p:spPr>
          <a:xfrm>
            <a:off x="384048" y="210312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2167128"/>
            <a:ext cx="914400" cy="502920"/>
          </a:xfrm>
          <a:prstGeom prst="rect">
            <a:avLst/>
          </a:prstGeom>
          <a:noFill/>
        </p:spPr>
        <p:txBody>
          <a:bodyPr wrap="square">
            <a:spAutoFit/>
          </a:bodyPr>
          <a:lstStyle/>
          <a:p>
            <a:pPr algn="ctr"/>
            <a:r>
              <a:rPr sz="800" b="0">
                <a:solidFill>
                  <a:srgbClr val="4A4A5A"/>
                </a:solidFill>
                <a:latin typeface="Calibri"/>
              </a:rPr>
              <a:t>Arena</a:t>
            </a:r>
          </a:p>
        </p:txBody>
      </p:sp>
      <p:sp>
        <p:nvSpPr>
          <p:cNvPr id="12" name="Rectangle 11"/>
          <p:cNvSpPr/>
          <p:nvPr/>
        </p:nvSpPr>
        <p:spPr>
          <a:xfrm>
            <a:off x="384048" y="2880360"/>
            <a:ext cx="914400" cy="6400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944368"/>
            <a:ext cx="914400" cy="502920"/>
          </a:xfrm>
          <a:prstGeom prst="rect">
            <a:avLst/>
          </a:prstGeom>
          <a:noFill/>
        </p:spPr>
        <p:txBody>
          <a:bodyPr wrap="square">
            <a:spAutoFit/>
          </a:bodyPr>
          <a:lstStyle/>
          <a:p>
            <a:pPr algn="ctr"/>
            <a:r>
              <a:rPr sz="800" b="0">
                <a:solidFill>
                  <a:srgbClr val="FFFFFF"/>
                </a:solidFill>
                <a:latin typeface="Calibri"/>
              </a:rPr>
              <a:t>Skills</a:t>
            </a:r>
          </a:p>
        </p:txBody>
      </p:sp>
      <p:sp>
        <p:nvSpPr>
          <p:cNvPr id="14" name="Rectangle 13"/>
          <p:cNvSpPr/>
          <p:nvPr/>
        </p:nvSpPr>
        <p:spPr>
          <a:xfrm>
            <a:off x="384048" y="365760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721608"/>
            <a:ext cx="914400" cy="502920"/>
          </a:xfrm>
          <a:prstGeom prst="rect">
            <a:avLst/>
          </a:prstGeom>
          <a:noFill/>
        </p:spPr>
        <p:txBody>
          <a:bodyPr wrap="square">
            <a:spAutoFit/>
          </a:bodyPr>
          <a:lstStyle/>
          <a:p>
            <a:pPr algn="ctr"/>
            <a:r>
              <a:rPr sz="800" b="0">
                <a:solidFill>
                  <a:srgbClr val="4A4A5A"/>
                </a:solidFill>
                <a:latin typeface="Calibri"/>
              </a:rPr>
              <a:t>Log</a:t>
            </a:r>
          </a:p>
        </p:txBody>
      </p:sp>
      <p:sp>
        <p:nvSpPr>
          <p:cNvPr id="16" name="Rectangle 15"/>
          <p:cNvSpPr/>
          <p:nvPr/>
        </p:nvSpPr>
        <p:spPr>
          <a:xfrm>
            <a:off x="384048" y="4434840"/>
            <a:ext cx="914400" cy="64008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4498848"/>
            <a:ext cx="914400" cy="502920"/>
          </a:xfrm>
          <a:prstGeom prst="rect">
            <a:avLst/>
          </a:prstGeom>
          <a:noFill/>
        </p:spPr>
        <p:txBody>
          <a:bodyPr wrap="square">
            <a:spAutoFit/>
          </a:bodyPr>
          <a:lstStyle/>
          <a:p>
            <a:pPr algn="ctr"/>
            <a:r>
              <a:rPr sz="800" b="0">
                <a:solidFill>
                  <a:srgbClr val="4A4A5A"/>
                </a:solidFill>
                <a:latin typeface="Calibri"/>
              </a:rPr>
              <a:t>Bell</a:t>
            </a:r>
          </a:p>
        </p:txBody>
      </p:sp>
      <p:sp>
        <p:nvSpPr>
          <p:cNvPr id="18" name="TextBox 17"/>
          <p:cNvSpPr txBox="1"/>
          <p:nvPr/>
        </p:nvSpPr>
        <p:spPr>
          <a:xfrm>
            <a:off x="1508760" y="1298448"/>
            <a:ext cx="3200400" cy="256032"/>
          </a:xfrm>
          <a:prstGeom prst="rect">
            <a:avLst/>
          </a:prstGeom>
          <a:noFill/>
        </p:spPr>
        <p:txBody>
          <a:bodyPr wrap="square">
            <a:spAutoFit/>
          </a:bodyPr>
          <a:lstStyle/>
          <a:p>
            <a:pPr algn="l"/>
            <a:r>
              <a:rPr sz="900" b="0">
                <a:solidFill>
                  <a:srgbClr val="4A4A5A"/>
                </a:solidFill>
                <a:latin typeface="Calibri"/>
              </a:rPr>
              <a:t>Profile Completeness</a:t>
            </a:r>
          </a:p>
        </p:txBody>
      </p:sp>
      <p:sp>
        <p:nvSpPr>
          <p:cNvPr id="19" name="Rectangle 18"/>
          <p:cNvSpPr/>
          <p:nvPr/>
        </p:nvSpPr>
        <p:spPr>
          <a:xfrm>
            <a:off x="1508760" y="1572768"/>
            <a:ext cx="4572000" cy="164592"/>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508760" y="1572768"/>
            <a:ext cx="3200400" cy="16459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33872" y="1536192"/>
            <a:ext cx="457200" cy="219456"/>
          </a:xfrm>
          <a:prstGeom prst="rect">
            <a:avLst/>
          </a:prstGeom>
          <a:noFill/>
        </p:spPr>
        <p:txBody>
          <a:bodyPr wrap="square">
            <a:spAutoFit/>
          </a:bodyPr>
          <a:lstStyle/>
          <a:p>
            <a:pPr algn="l"/>
            <a:r>
              <a:rPr sz="900" b="1">
                <a:solidFill>
                  <a:srgbClr val="06D6A0"/>
                </a:solidFill>
                <a:latin typeface="Calibri"/>
              </a:rPr>
              <a:t>70%</a:t>
            </a:r>
          </a:p>
        </p:txBody>
      </p:sp>
      <p:sp>
        <p:nvSpPr>
          <p:cNvPr id="22" name="TextBox 21"/>
          <p:cNvSpPr txBox="1"/>
          <p:nvPr/>
        </p:nvSpPr>
        <p:spPr>
          <a:xfrm>
            <a:off x="1508760" y="1847088"/>
            <a:ext cx="4572000" cy="329184"/>
          </a:xfrm>
          <a:prstGeom prst="rect">
            <a:avLst/>
          </a:prstGeom>
          <a:noFill/>
        </p:spPr>
        <p:txBody>
          <a:bodyPr wrap="square">
            <a:spAutoFit/>
          </a:bodyPr>
          <a:lstStyle/>
          <a:p>
            <a:pPr algn="l"/>
            <a:r>
              <a:rPr sz="1200" b="1">
                <a:solidFill>
                  <a:srgbClr val="0A295C"/>
                </a:solidFill>
                <a:latin typeface="Calibri"/>
              </a:rPr>
              <a:t>My Skills</a:t>
            </a:r>
          </a:p>
        </p:txBody>
      </p:sp>
      <p:sp>
        <p:nvSpPr>
          <p:cNvPr id="23" name="Rectangle 22"/>
          <p:cNvSpPr/>
          <p:nvPr/>
        </p:nvSpPr>
        <p:spPr>
          <a:xfrm>
            <a:off x="1508760" y="2240280"/>
            <a:ext cx="3749039" cy="438912"/>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2313432"/>
            <a:ext cx="2103120" cy="292608"/>
          </a:xfrm>
          <a:prstGeom prst="rect">
            <a:avLst/>
          </a:prstGeom>
          <a:noFill/>
        </p:spPr>
        <p:txBody>
          <a:bodyPr wrap="square">
            <a:spAutoFit/>
          </a:bodyPr>
          <a:lstStyle/>
          <a:p>
            <a:pPr algn="l"/>
            <a:r>
              <a:rPr sz="1100" b="0">
                <a:solidFill>
                  <a:srgbClr val="0A295C"/>
                </a:solidFill>
                <a:latin typeface="Calibri"/>
              </a:rPr>
              <a:t>Python</a:t>
            </a:r>
          </a:p>
        </p:txBody>
      </p:sp>
      <p:sp>
        <p:nvSpPr>
          <p:cNvPr id="25" name="Rounded Rectangle 24"/>
          <p:cNvSpPr/>
          <p:nvPr/>
        </p:nvSpPr>
        <p:spPr>
          <a:xfrm>
            <a:off x="4206240" y="2322576"/>
            <a:ext cx="868680" cy="27432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59" y="2340864"/>
            <a:ext cx="777240" cy="228600"/>
          </a:xfrm>
          <a:prstGeom prst="rect">
            <a:avLst/>
          </a:prstGeom>
          <a:noFill/>
        </p:spPr>
        <p:txBody>
          <a:bodyPr wrap="square">
            <a:spAutoFit/>
          </a:bodyPr>
          <a:lstStyle/>
          <a:p>
            <a:pPr algn="ctr"/>
            <a:r>
              <a:rPr sz="800" b="1">
                <a:solidFill>
                  <a:srgbClr val="FFFFFF"/>
                </a:solidFill>
                <a:latin typeface="Calibri"/>
              </a:rPr>
              <a:t>Exp</a:t>
            </a:r>
          </a:p>
        </p:txBody>
      </p:sp>
      <p:sp>
        <p:nvSpPr>
          <p:cNvPr id="27" name="Rectangle 26"/>
          <p:cNvSpPr/>
          <p:nvPr/>
        </p:nvSpPr>
        <p:spPr>
          <a:xfrm>
            <a:off x="1508760" y="2770632"/>
            <a:ext cx="3749039" cy="438912"/>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00200" y="2843784"/>
            <a:ext cx="2103120" cy="292608"/>
          </a:xfrm>
          <a:prstGeom prst="rect">
            <a:avLst/>
          </a:prstGeom>
          <a:noFill/>
        </p:spPr>
        <p:txBody>
          <a:bodyPr wrap="square">
            <a:spAutoFit/>
          </a:bodyPr>
          <a:lstStyle/>
          <a:p>
            <a:pPr algn="l"/>
            <a:r>
              <a:rPr sz="1100" b="0">
                <a:solidFill>
                  <a:srgbClr val="0A295C"/>
                </a:solidFill>
                <a:latin typeface="Calibri"/>
              </a:rPr>
              <a:t>Machine Learning</a:t>
            </a:r>
          </a:p>
        </p:txBody>
      </p:sp>
      <p:sp>
        <p:nvSpPr>
          <p:cNvPr id="29" name="Rounded Rectangle 28"/>
          <p:cNvSpPr/>
          <p:nvPr/>
        </p:nvSpPr>
        <p:spPr>
          <a:xfrm>
            <a:off x="4206240" y="2852928"/>
            <a:ext cx="868680" cy="2743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59" y="2871216"/>
            <a:ext cx="777240" cy="228600"/>
          </a:xfrm>
          <a:prstGeom prst="rect">
            <a:avLst/>
          </a:prstGeom>
          <a:noFill/>
        </p:spPr>
        <p:txBody>
          <a:bodyPr wrap="square">
            <a:spAutoFit/>
          </a:bodyPr>
          <a:lstStyle/>
          <a:p>
            <a:pPr algn="ctr"/>
            <a:r>
              <a:rPr sz="800" b="1">
                <a:solidFill>
                  <a:srgbClr val="FFFFFF"/>
                </a:solidFill>
                <a:latin typeface="Calibri"/>
              </a:rPr>
              <a:t>Adv</a:t>
            </a:r>
          </a:p>
        </p:txBody>
      </p:sp>
      <p:sp>
        <p:nvSpPr>
          <p:cNvPr id="31" name="Rectangle 30"/>
          <p:cNvSpPr/>
          <p:nvPr/>
        </p:nvSpPr>
        <p:spPr>
          <a:xfrm>
            <a:off x="1508760" y="3300984"/>
            <a:ext cx="3749039" cy="438912"/>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00200" y="3374136"/>
            <a:ext cx="2103120" cy="292608"/>
          </a:xfrm>
          <a:prstGeom prst="rect">
            <a:avLst/>
          </a:prstGeom>
          <a:noFill/>
        </p:spPr>
        <p:txBody>
          <a:bodyPr wrap="square">
            <a:spAutoFit/>
          </a:bodyPr>
          <a:lstStyle/>
          <a:p>
            <a:pPr algn="l"/>
            <a:r>
              <a:rPr sz="1100" b="0">
                <a:solidFill>
                  <a:srgbClr val="0A295C"/>
                </a:solidFill>
                <a:latin typeface="Calibri"/>
              </a:rPr>
              <a:t>Data Analysis</a:t>
            </a:r>
          </a:p>
        </p:txBody>
      </p:sp>
      <p:sp>
        <p:nvSpPr>
          <p:cNvPr id="33" name="Rounded Rectangle 32"/>
          <p:cNvSpPr/>
          <p:nvPr/>
        </p:nvSpPr>
        <p:spPr>
          <a:xfrm>
            <a:off x="4206240" y="3383280"/>
            <a:ext cx="868680" cy="274320"/>
          </a:xfrm>
          <a:prstGeom prst="round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59" y="3401568"/>
            <a:ext cx="777240" cy="228600"/>
          </a:xfrm>
          <a:prstGeom prst="rect">
            <a:avLst/>
          </a:prstGeom>
          <a:noFill/>
        </p:spPr>
        <p:txBody>
          <a:bodyPr wrap="square">
            <a:spAutoFit/>
          </a:bodyPr>
          <a:lstStyle/>
          <a:p>
            <a:pPr algn="ctr"/>
            <a:r>
              <a:rPr sz="800" b="1">
                <a:solidFill>
                  <a:srgbClr val="FFFFFF"/>
                </a:solidFill>
                <a:latin typeface="Calibri"/>
              </a:rPr>
              <a:t>Int</a:t>
            </a:r>
          </a:p>
        </p:txBody>
      </p:sp>
      <p:sp>
        <p:nvSpPr>
          <p:cNvPr id="35" name="Rectangle 34"/>
          <p:cNvSpPr/>
          <p:nvPr/>
        </p:nvSpPr>
        <p:spPr>
          <a:xfrm>
            <a:off x="1508760" y="3831335"/>
            <a:ext cx="3749039" cy="438912"/>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00200" y="3904487"/>
            <a:ext cx="2103120" cy="292608"/>
          </a:xfrm>
          <a:prstGeom prst="rect">
            <a:avLst/>
          </a:prstGeom>
          <a:noFill/>
        </p:spPr>
        <p:txBody>
          <a:bodyPr wrap="square">
            <a:spAutoFit/>
          </a:bodyPr>
          <a:lstStyle/>
          <a:p>
            <a:pPr algn="l"/>
            <a:r>
              <a:rPr sz="1100" b="0">
                <a:solidFill>
                  <a:srgbClr val="0A295C"/>
                </a:solidFill>
                <a:latin typeface="Calibri"/>
              </a:rPr>
              <a:t>Linux</a:t>
            </a:r>
          </a:p>
        </p:txBody>
      </p:sp>
      <p:sp>
        <p:nvSpPr>
          <p:cNvPr id="37" name="Rounded Rectangle 36"/>
          <p:cNvSpPr/>
          <p:nvPr/>
        </p:nvSpPr>
        <p:spPr>
          <a:xfrm>
            <a:off x="4206240" y="3913631"/>
            <a:ext cx="868680" cy="2743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51959" y="3931919"/>
            <a:ext cx="777240" cy="228600"/>
          </a:xfrm>
          <a:prstGeom prst="rect">
            <a:avLst/>
          </a:prstGeom>
          <a:noFill/>
        </p:spPr>
        <p:txBody>
          <a:bodyPr wrap="square">
            <a:spAutoFit/>
          </a:bodyPr>
          <a:lstStyle/>
          <a:p>
            <a:pPr algn="ctr"/>
            <a:r>
              <a:rPr sz="800" b="1">
                <a:solidFill>
                  <a:srgbClr val="FFFFFF"/>
                </a:solidFill>
                <a:latin typeface="Calibri"/>
              </a:rPr>
              <a:t>Beg</a:t>
            </a:r>
          </a:p>
        </p:txBody>
      </p:sp>
      <p:sp>
        <p:nvSpPr>
          <p:cNvPr id="39" name="Rectangle 38"/>
          <p:cNvSpPr/>
          <p:nvPr/>
        </p:nvSpPr>
        <p:spPr>
          <a:xfrm>
            <a:off x="1508760" y="4407408"/>
            <a:ext cx="45720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08760" y="4434840"/>
            <a:ext cx="4572000" cy="274320"/>
          </a:xfrm>
          <a:prstGeom prst="rect">
            <a:avLst/>
          </a:prstGeom>
          <a:noFill/>
        </p:spPr>
        <p:txBody>
          <a:bodyPr wrap="square">
            <a:spAutoFit/>
          </a:bodyPr>
          <a:lstStyle/>
          <a:p>
            <a:pPr algn="ctr"/>
            <a:r>
              <a:rPr sz="1000" b="1">
                <a:solidFill>
                  <a:srgbClr val="FFFFFF"/>
                </a:solidFill>
                <a:latin typeface="Calibri"/>
              </a:rPr>
              <a:t>+ Add Skill</a:t>
            </a:r>
          </a:p>
        </p:txBody>
      </p:sp>
      <p:sp>
        <p:nvSpPr>
          <p:cNvPr id="41" name="TextBox 40"/>
          <p:cNvSpPr txBox="1"/>
          <p:nvPr/>
        </p:nvSpPr>
        <p:spPr>
          <a:xfrm>
            <a:off x="1508760" y="4892040"/>
            <a:ext cx="4572000" cy="274320"/>
          </a:xfrm>
          <a:prstGeom prst="rect">
            <a:avLst/>
          </a:prstGeom>
          <a:noFill/>
        </p:spPr>
        <p:txBody>
          <a:bodyPr wrap="square">
            <a:spAutoFit/>
          </a:bodyPr>
          <a:lstStyle/>
          <a:p>
            <a:pPr algn="l"/>
            <a:r>
              <a:rPr sz="900" b="1">
                <a:solidFill>
                  <a:srgbClr val="FFB703"/>
                </a:solidFill>
                <a:latin typeface="Calibri"/>
              </a:rPr>
              <a:t>Skill Gap Analysis</a:t>
            </a:r>
          </a:p>
        </p:txBody>
      </p:sp>
      <p:sp>
        <p:nvSpPr>
          <p:cNvPr id="42" name="TextBox 41"/>
          <p:cNvSpPr txBox="1"/>
          <p:nvPr/>
        </p:nvSpPr>
        <p:spPr>
          <a:xfrm>
            <a:off x="1508760" y="5230368"/>
            <a:ext cx="1371600" cy="219456"/>
          </a:xfrm>
          <a:prstGeom prst="rect">
            <a:avLst/>
          </a:prstGeom>
          <a:noFill/>
        </p:spPr>
        <p:txBody>
          <a:bodyPr wrap="square">
            <a:spAutoFit/>
          </a:bodyPr>
          <a:lstStyle/>
          <a:p>
            <a:pPr algn="l"/>
            <a:r>
              <a:rPr sz="800" b="0">
                <a:solidFill>
                  <a:srgbClr val="4A4A5A"/>
                </a:solidFill>
                <a:latin typeface="Calibri"/>
              </a:rPr>
              <a:t>NLP</a:t>
            </a:r>
          </a:p>
        </p:txBody>
      </p:sp>
      <p:sp>
        <p:nvSpPr>
          <p:cNvPr id="43" name="Rectangle 42"/>
          <p:cNvSpPr/>
          <p:nvPr/>
        </p:nvSpPr>
        <p:spPr>
          <a:xfrm>
            <a:off x="2834640" y="5285231"/>
            <a:ext cx="3154680" cy="13716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08760" y="5504688"/>
            <a:ext cx="1371600" cy="219456"/>
          </a:xfrm>
          <a:prstGeom prst="rect">
            <a:avLst/>
          </a:prstGeom>
          <a:noFill/>
        </p:spPr>
        <p:txBody>
          <a:bodyPr wrap="square">
            <a:spAutoFit/>
          </a:bodyPr>
          <a:lstStyle/>
          <a:p>
            <a:pPr algn="l"/>
            <a:r>
              <a:rPr sz="800" b="0">
                <a:solidFill>
                  <a:srgbClr val="4A4A5A"/>
                </a:solidFill>
                <a:latin typeface="Calibri"/>
              </a:rPr>
              <a:t>Networking</a:t>
            </a:r>
          </a:p>
        </p:txBody>
      </p:sp>
      <p:sp>
        <p:nvSpPr>
          <p:cNvPr id="45" name="Rectangle 44"/>
          <p:cNvSpPr/>
          <p:nvPr/>
        </p:nvSpPr>
        <p:spPr>
          <a:xfrm>
            <a:off x="2834640" y="5559551"/>
            <a:ext cx="3154680" cy="13716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08760" y="5779007"/>
            <a:ext cx="1371600" cy="219456"/>
          </a:xfrm>
          <a:prstGeom prst="rect">
            <a:avLst/>
          </a:prstGeom>
          <a:noFill/>
        </p:spPr>
        <p:txBody>
          <a:bodyPr wrap="square">
            <a:spAutoFit/>
          </a:bodyPr>
          <a:lstStyle/>
          <a:p>
            <a:pPr algn="l"/>
            <a:r>
              <a:rPr sz="800" b="0">
                <a:solidFill>
                  <a:srgbClr val="4A4A5A"/>
                </a:solidFill>
                <a:latin typeface="Calibri"/>
              </a:rPr>
              <a:t>Cybersecurity</a:t>
            </a:r>
          </a:p>
        </p:txBody>
      </p:sp>
      <p:sp>
        <p:nvSpPr>
          <p:cNvPr id="47" name="Rectangle 46"/>
          <p:cNvSpPr/>
          <p:nvPr/>
        </p:nvSpPr>
        <p:spPr>
          <a:xfrm>
            <a:off x="2834640" y="5833871"/>
            <a:ext cx="3154680" cy="137160"/>
          </a:xfrm>
          <a:prstGeom prst="rect">
            <a:avLst/>
          </a:prstGeom>
          <a:solidFill>
            <a:srgbClr val="EE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34640" y="5833871"/>
            <a:ext cx="946403" cy="13716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481328" y="2176272"/>
            <a:ext cx="548640" cy="384048"/>
          </a:xfrm>
          <a:prstGeom prst="ellipse">
            <a:avLst/>
          </a:prstGeom>
          <a:solidFill>
            <a:srgbClr val="FF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481328" y="1810512"/>
            <a:ext cx="411480" cy="288036"/>
          </a:xfrm>
          <a:prstGeom prst="ellipse">
            <a:avLst/>
          </a:prstGeom>
          <a:solidFill>
            <a:srgbClr val="FFB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481328" y="2697480"/>
            <a:ext cx="274320" cy="192024"/>
          </a:xfrm>
          <a:prstGeom prst="ellipse">
            <a:avLst/>
          </a:prstGeom>
          <a:solidFill>
            <a:srgbClr val="FFD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160520" y="4343400"/>
            <a:ext cx="228600" cy="160020"/>
          </a:xfrm>
          <a:prstGeom prst="ellipse">
            <a:avLst/>
          </a:prstGeom>
          <a:solidFill>
            <a:srgbClr val="FFEE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481328" y="4864608"/>
            <a:ext cx="91440" cy="64007"/>
          </a:xfrm>
          <a:prstGeom prst="ellipse">
            <a:avLst/>
          </a:prstGeom>
          <a:solidFill>
            <a:srgbClr val="EEFF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537960" y="896112"/>
            <a:ext cx="5303520" cy="1298448"/>
          </a:xfrm>
          <a:prstGeom prst="rect">
            <a:avLst/>
          </a:prstGeom>
          <a:solidFill>
            <a:srgbClr val="F3EE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537960" y="896112"/>
            <a:ext cx="73152" cy="12984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48272" y="987552"/>
            <a:ext cx="4846320" cy="365760"/>
          </a:xfrm>
          <a:prstGeom prst="rect">
            <a:avLst/>
          </a:prstGeom>
          <a:noFill/>
        </p:spPr>
        <p:txBody>
          <a:bodyPr wrap="square">
            <a:spAutoFit/>
          </a:bodyPr>
          <a:lstStyle/>
          <a:p>
            <a:pPr algn="l"/>
            <a:r>
              <a:rPr sz="1300" b="1">
                <a:solidFill>
                  <a:srgbClr val="7C3AED"/>
                </a:solidFill>
                <a:latin typeface="Calibri"/>
              </a:rPr>
              <a:t>Entry Point</a:t>
            </a:r>
          </a:p>
        </p:txBody>
      </p:sp>
      <p:sp>
        <p:nvSpPr>
          <p:cNvPr id="57" name="TextBox 56"/>
          <p:cNvSpPr txBox="1"/>
          <p:nvPr/>
        </p:nvSpPr>
        <p:spPr>
          <a:xfrm>
            <a:off x="6748272" y="1399032"/>
            <a:ext cx="4892040" cy="685800"/>
          </a:xfrm>
          <a:prstGeom prst="rect">
            <a:avLst/>
          </a:prstGeom>
          <a:noFill/>
        </p:spPr>
        <p:txBody>
          <a:bodyPr wrap="square">
            <a:spAutoFit/>
          </a:bodyPr>
          <a:lstStyle/>
          <a:p>
            <a:pPr algn="l"/>
            <a:r>
              <a:rPr sz="1100" b="0">
                <a:solidFill>
                  <a:srgbClr val="4A4A5A"/>
                </a:solidFill>
                <a:latin typeface="Calibri"/>
              </a:rPr>
              <a:t>First skill card (Python — Expert) gets maximum fixation. Large text, top position, high contrast.</a:t>
            </a:r>
          </a:p>
        </p:txBody>
      </p:sp>
      <p:sp>
        <p:nvSpPr>
          <p:cNvPr id="58" name="Rectangle 57"/>
          <p:cNvSpPr/>
          <p:nvPr/>
        </p:nvSpPr>
        <p:spPr>
          <a:xfrm>
            <a:off x="6537960" y="2359152"/>
            <a:ext cx="5303520" cy="1298448"/>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537960" y="2359152"/>
            <a:ext cx="73152" cy="129844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48272" y="2450592"/>
            <a:ext cx="4846320" cy="365760"/>
          </a:xfrm>
          <a:prstGeom prst="rect">
            <a:avLst/>
          </a:prstGeom>
          <a:noFill/>
        </p:spPr>
        <p:txBody>
          <a:bodyPr wrap="square">
            <a:spAutoFit/>
          </a:bodyPr>
          <a:lstStyle/>
          <a:p>
            <a:pPr algn="l"/>
            <a:r>
              <a:rPr sz="1300" b="1">
                <a:solidFill>
                  <a:srgbClr val="FF6B6B"/>
                </a:solidFill>
                <a:latin typeface="Calibri"/>
              </a:rPr>
              <a:t>Completeness Bar</a:t>
            </a:r>
          </a:p>
        </p:txBody>
      </p:sp>
      <p:sp>
        <p:nvSpPr>
          <p:cNvPr id="61" name="TextBox 60"/>
          <p:cNvSpPr txBox="1"/>
          <p:nvPr/>
        </p:nvSpPr>
        <p:spPr>
          <a:xfrm>
            <a:off x="6748272" y="2862072"/>
            <a:ext cx="4892040" cy="685800"/>
          </a:xfrm>
          <a:prstGeom prst="rect">
            <a:avLst/>
          </a:prstGeom>
          <a:noFill/>
        </p:spPr>
        <p:txBody>
          <a:bodyPr wrap="square">
            <a:spAutoFit/>
          </a:bodyPr>
          <a:lstStyle/>
          <a:p>
            <a:pPr algn="l"/>
            <a:r>
              <a:rPr sz="1100" b="0">
                <a:solidFill>
                  <a:srgbClr val="4A4A5A"/>
                </a:solidFill>
                <a:latin typeface="Calibri"/>
              </a:rPr>
              <a:t>Thin strip, low contrast. Predicted fixation: zero. Provides no feedback value as currently designed.</a:t>
            </a:r>
          </a:p>
        </p:txBody>
      </p:sp>
      <p:sp>
        <p:nvSpPr>
          <p:cNvPr id="62" name="Rectangle 61"/>
          <p:cNvSpPr/>
          <p:nvPr/>
        </p:nvSpPr>
        <p:spPr>
          <a:xfrm>
            <a:off x="6537960" y="3822191"/>
            <a:ext cx="5303520" cy="1298448"/>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537960" y="3822191"/>
            <a:ext cx="73152" cy="129844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8272" y="3913631"/>
            <a:ext cx="4846320" cy="365760"/>
          </a:xfrm>
          <a:prstGeom prst="rect">
            <a:avLst/>
          </a:prstGeom>
          <a:noFill/>
        </p:spPr>
        <p:txBody>
          <a:bodyPr wrap="square">
            <a:spAutoFit/>
          </a:bodyPr>
          <a:lstStyle/>
          <a:p>
            <a:pPr algn="l"/>
            <a:r>
              <a:rPr sz="1300" b="1">
                <a:solidFill>
                  <a:srgbClr val="FF6B6B"/>
                </a:solidFill>
                <a:latin typeface="Calibri"/>
              </a:rPr>
              <a:t>Biggest Problem</a:t>
            </a:r>
          </a:p>
        </p:txBody>
      </p:sp>
      <p:sp>
        <p:nvSpPr>
          <p:cNvPr id="65" name="TextBox 64"/>
          <p:cNvSpPr txBox="1"/>
          <p:nvPr/>
        </p:nvSpPr>
        <p:spPr>
          <a:xfrm>
            <a:off x="6748272" y="4325112"/>
            <a:ext cx="4892040" cy="685800"/>
          </a:xfrm>
          <a:prstGeom prst="rect">
            <a:avLst/>
          </a:prstGeom>
          <a:noFill/>
        </p:spPr>
        <p:txBody>
          <a:bodyPr wrap="square">
            <a:spAutoFit/>
          </a:bodyPr>
          <a:lstStyle/>
          <a:p>
            <a:pPr algn="l"/>
            <a:r>
              <a:rPr sz="1100" b="0">
                <a:solidFill>
                  <a:srgbClr val="4A4A5A"/>
                </a:solidFill>
                <a:latin typeface="Calibri"/>
              </a:rPr>
              <a:t>Skill Gap Analysis appears below the skill list — predicted below the fold. Near-zero fixation. The most useful feature on the page is completely invisible.</a:t>
            </a:r>
          </a:p>
        </p:txBody>
      </p:sp>
      <p:sp>
        <p:nvSpPr>
          <p:cNvPr id="66" name="Rectangle 65"/>
          <p:cNvSpPr/>
          <p:nvPr/>
        </p:nvSpPr>
        <p:spPr>
          <a:xfrm>
            <a:off x="6537960" y="5285232"/>
            <a:ext cx="5303520" cy="1298448"/>
          </a:xfrm>
          <a:prstGeom prst="rect">
            <a:avLst/>
          </a:prstGeom>
          <a:solidFill>
            <a:srgbClr val="FFF8E1"/>
          </a:solidFill>
          <a:ln w="254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537960" y="5285232"/>
            <a:ext cx="73152" cy="129844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48272" y="5376672"/>
            <a:ext cx="4846320" cy="365760"/>
          </a:xfrm>
          <a:prstGeom prst="rect">
            <a:avLst/>
          </a:prstGeom>
          <a:noFill/>
        </p:spPr>
        <p:txBody>
          <a:bodyPr wrap="square">
            <a:spAutoFit/>
          </a:bodyPr>
          <a:lstStyle/>
          <a:p>
            <a:pPr algn="l"/>
            <a:r>
              <a:rPr sz="1300" b="1">
                <a:solidFill>
                  <a:srgbClr val="FFB703"/>
                </a:solidFill>
                <a:latin typeface="Calibri"/>
              </a:rPr>
              <a:t>Add Skill Competes</a:t>
            </a:r>
          </a:p>
        </p:txBody>
      </p:sp>
      <p:sp>
        <p:nvSpPr>
          <p:cNvPr id="69" name="TextBox 68"/>
          <p:cNvSpPr txBox="1"/>
          <p:nvPr/>
        </p:nvSpPr>
        <p:spPr>
          <a:xfrm>
            <a:off x="6748272" y="5788152"/>
            <a:ext cx="4892040" cy="685800"/>
          </a:xfrm>
          <a:prstGeom prst="rect">
            <a:avLst/>
          </a:prstGeom>
          <a:noFill/>
        </p:spPr>
        <p:txBody>
          <a:bodyPr wrap="square">
            <a:spAutoFit/>
          </a:bodyPr>
          <a:lstStyle/>
          <a:p>
            <a:pPr algn="l"/>
            <a:r>
              <a:rPr sz="1100" b="0">
                <a:solidFill>
                  <a:srgbClr val="4A4A5A"/>
                </a:solidFill>
                <a:latin typeface="Calibri"/>
              </a:rPr>
              <a:t>Add Skill button (purple, solid) draws eye away from gap analysis. Students add skills but don't know which ones challenges need.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1800" b="1">
                <a:solidFill>
                  <a:srgbClr val="FFFFFF"/>
                </a:solidFill>
                <a:latin typeface="Calibri"/>
              </a:rPr>
              <a:t>THE F-PATTERN — Why Key Features Are Being Missed</a:t>
            </a:r>
          </a:p>
        </p:txBody>
      </p:sp>
      <p:sp>
        <p:nvSpPr>
          <p:cNvPr id="5" name="Rectangle 4"/>
          <p:cNvSpPr/>
          <p:nvPr/>
        </p:nvSpPr>
        <p:spPr>
          <a:xfrm>
            <a:off x="457200" y="914400"/>
            <a:ext cx="4114800" cy="5257800"/>
          </a:xfrm>
          <a:prstGeom prst="rect">
            <a:avLst/>
          </a:prstGeom>
          <a:solidFill>
            <a:srgbClr val="F8F9FA"/>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987552"/>
            <a:ext cx="3749039" cy="347472"/>
          </a:xfrm>
          <a:prstGeom prst="rect">
            <a:avLst/>
          </a:prstGeom>
          <a:noFill/>
        </p:spPr>
        <p:txBody>
          <a:bodyPr wrap="square">
            <a:spAutoFit/>
          </a:bodyPr>
          <a:lstStyle/>
          <a:p>
            <a:pPr algn="l"/>
            <a:r>
              <a:rPr sz="1100" b="1">
                <a:solidFill>
                  <a:srgbClr val="4A4A5A"/>
                </a:solidFill>
                <a:latin typeface="Calibri"/>
              </a:rPr>
              <a:t>How Users Actually Read Screens</a:t>
            </a:r>
          </a:p>
        </p:txBody>
      </p:sp>
      <p:sp>
        <p:nvSpPr>
          <p:cNvPr id="7" name="Rectangle 6"/>
          <p:cNvSpPr/>
          <p:nvPr/>
        </p:nvSpPr>
        <p:spPr>
          <a:xfrm>
            <a:off x="640080" y="1463040"/>
            <a:ext cx="3749039" cy="502920"/>
          </a:xfrm>
          <a:prstGeom prst="rect">
            <a:avLst/>
          </a:prstGeom>
          <a:solidFill>
            <a:srgbClr val="FF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94560"/>
            <a:ext cx="2560320" cy="384048"/>
          </a:xfrm>
          <a:prstGeom prst="rect">
            <a:avLst/>
          </a:prstGeom>
          <a:solidFill>
            <a:srgbClr val="FFD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788920"/>
            <a:ext cx="502920" cy="2880360"/>
          </a:xfrm>
          <a:prstGeom prst="rect">
            <a:avLst/>
          </a:prstGeom>
          <a:solidFill>
            <a:srgbClr val="FF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536192"/>
            <a:ext cx="3566160" cy="274320"/>
          </a:xfrm>
          <a:prstGeom prst="rect">
            <a:avLst/>
          </a:prstGeom>
          <a:noFill/>
        </p:spPr>
        <p:txBody>
          <a:bodyPr wrap="square">
            <a:spAutoFit/>
          </a:bodyPr>
          <a:lstStyle/>
          <a:p>
            <a:pPr algn="l"/>
            <a:r>
              <a:rPr sz="1000" b="1">
                <a:solidFill>
                  <a:srgbClr val="FF6B6B"/>
                </a:solidFill>
                <a:latin typeface="Calibri"/>
              </a:rPr>
              <a:t>First horizontal sweep</a:t>
            </a:r>
          </a:p>
        </p:txBody>
      </p:sp>
      <p:sp>
        <p:nvSpPr>
          <p:cNvPr id="11" name="TextBox 10"/>
          <p:cNvSpPr txBox="1"/>
          <p:nvPr/>
        </p:nvSpPr>
        <p:spPr>
          <a:xfrm>
            <a:off x="658368" y="1783080"/>
            <a:ext cx="3566160" cy="256032"/>
          </a:xfrm>
          <a:prstGeom prst="rect">
            <a:avLst/>
          </a:prstGeom>
          <a:noFill/>
        </p:spPr>
        <p:txBody>
          <a:bodyPr wrap="square">
            <a:spAutoFit/>
          </a:bodyPr>
          <a:lstStyle/>
          <a:p>
            <a:pPr algn="l"/>
            <a:r>
              <a:rPr sz="900" b="0">
                <a:solidFill>
                  <a:srgbClr val="4A4A5A"/>
                </a:solidFill>
                <a:latin typeface="Calibri"/>
              </a:rPr>
              <a:t>→ 100% attention across full width</a:t>
            </a:r>
          </a:p>
        </p:txBody>
      </p:sp>
      <p:sp>
        <p:nvSpPr>
          <p:cNvPr id="12" name="TextBox 11"/>
          <p:cNvSpPr txBox="1"/>
          <p:nvPr/>
        </p:nvSpPr>
        <p:spPr>
          <a:xfrm>
            <a:off x="658368" y="2258568"/>
            <a:ext cx="3566160" cy="274320"/>
          </a:xfrm>
          <a:prstGeom prst="rect">
            <a:avLst/>
          </a:prstGeom>
          <a:noFill/>
        </p:spPr>
        <p:txBody>
          <a:bodyPr wrap="square">
            <a:spAutoFit/>
          </a:bodyPr>
          <a:lstStyle/>
          <a:p>
            <a:pPr algn="l"/>
            <a:r>
              <a:rPr sz="1000" b="1">
                <a:solidFill>
                  <a:srgbClr val="FFB703"/>
                </a:solidFill>
                <a:latin typeface="Calibri"/>
              </a:rPr>
              <a:t>Second horizontal sweep</a:t>
            </a:r>
          </a:p>
        </p:txBody>
      </p:sp>
      <p:sp>
        <p:nvSpPr>
          <p:cNvPr id="13" name="TextBox 12"/>
          <p:cNvSpPr txBox="1"/>
          <p:nvPr/>
        </p:nvSpPr>
        <p:spPr>
          <a:xfrm>
            <a:off x="658368" y="2505456"/>
            <a:ext cx="3566160" cy="256032"/>
          </a:xfrm>
          <a:prstGeom prst="rect">
            <a:avLst/>
          </a:prstGeom>
          <a:noFill/>
        </p:spPr>
        <p:txBody>
          <a:bodyPr wrap="square">
            <a:spAutoFit/>
          </a:bodyPr>
          <a:lstStyle/>
          <a:p>
            <a:pPr algn="l"/>
            <a:r>
              <a:rPr sz="900" b="0">
                <a:solidFill>
                  <a:srgbClr val="4A4A5A"/>
                </a:solidFill>
                <a:latin typeface="Calibri"/>
              </a:rPr>
              <a:t>→ Shorter, ~60% of width</a:t>
            </a:r>
          </a:p>
        </p:txBody>
      </p:sp>
      <p:sp>
        <p:nvSpPr>
          <p:cNvPr id="14" name="TextBox 13"/>
          <p:cNvSpPr txBox="1"/>
          <p:nvPr/>
        </p:nvSpPr>
        <p:spPr>
          <a:xfrm>
            <a:off x="658368" y="2852928"/>
            <a:ext cx="3566160" cy="274320"/>
          </a:xfrm>
          <a:prstGeom prst="rect">
            <a:avLst/>
          </a:prstGeom>
          <a:noFill/>
        </p:spPr>
        <p:txBody>
          <a:bodyPr wrap="square">
            <a:spAutoFit/>
          </a:bodyPr>
          <a:lstStyle/>
          <a:p>
            <a:pPr algn="l"/>
            <a:r>
              <a:rPr sz="1000" b="1">
                <a:solidFill>
                  <a:srgbClr val="FFCC88"/>
                </a:solidFill>
                <a:latin typeface="Calibri"/>
              </a:rPr>
              <a:t>Left vertical scan</a:t>
            </a:r>
          </a:p>
        </p:txBody>
      </p:sp>
      <p:sp>
        <p:nvSpPr>
          <p:cNvPr id="15" name="TextBox 14"/>
          <p:cNvSpPr txBox="1"/>
          <p:nvPr/>
        </p:nvSpPr>
        <p:spPr>
          <a:xfrm>
            <a:off x="658368" y="3090672"/>
            <a:ext cx="3566160" cy="256032"/>
          </a:xfrm>
          <a:prstGeom prst="rect">
            <a:avLst/>
          </a:prstGeom>
          <a:noFill/>
        </p:spPr>
        <p:txBody>
          <a:bodyPr wrap="square">
            <a:spAutoFit/>
          </a:bodyPr>
          <a:lstStyle/>
          <a:p>
            <a:pPr algn="l"/>
            <a:r>
              <a:rPr sz="900" b="0">
                <a:solidFill>
                  <a:srgbClr val="4A4A5A"/>
                </a:solidFill>
                <a:latin typeface="Calibri"/>
              </a:rPr>
              <a:t>→ Left column only, ~40% attention</a:t>
            </a:r>
          </a:p>
        </p:txBody>
      </p:sp>
      <p:sp>
        <p:nvSpPr>
          <p:cNvPr id="16" name="TextBox 15"/>
          <p:cNvSpPr txBox="1"/>
          <p:nvPr/>
        </p:nvSpPr>
        <p:spPr>
          <a:xfrm>
            <a:off x="658368" y="3840480"/>
            <a:ext cx="3566160" cy="320040"/>
          </a:xfrm>
          <a:prstGeom prst="rect">
            <a:avLst/>
          </a:prstGeom>
          <a:noFill/>
        </p:spPr>
        <p:txBody>
          <a:bodyPr wrap="square">
            <a:spAutoFit/>
          </a:bodyPr>
          <a:lstStyle/>
          <a:p>
            <a:pPr algn="l"/>
            <a:r>
              <a:rPr sz="1100" b="1">
                <a:solidFill>
                  <a:srgbClr val="FF6B6B"/>
                </a:solidFill>
                <a:latin typeface="Calibri"/>
              </a:rPr>
              <a:t>RIGHT COLUMN → near-zero fixation</a:t>
            </a:r>
          </a:p>
        </p:txBody>
      </p:sp>
      <p:sp>
        <p:nvSpPr>
          <p:cNvPr id="17" name="TextBox 16"/>
          <p:cNvSpPr txBox="1"/>
          <p:nvPr/>
        </p:nvSpPr>
        <p:spPr>
          <a:xfrm>
            <a:off x="658368" y="4206240"/>
            <a:ext cx="3566160" cy="320040"/>
          </a:xfrm>
          <a:prstGeom prst="rect">
            <a:avLst/>
          </a:prstGeom>
          <a:noFill/>
        </p:spPr>
        <p:txBody>
          <a:bodyPr wrap="square">
            <a:spAutoFit/>
          </a:bodyPr>
          <a:lstStyle/>
          <a:p>
            <a:pPr algn="l"/>
            <a:r>
              <a:rPr sz="1100" b="1">
                <a:solidFill>
                  <a:srgbClr val="FF6B6B"/>
                </a:solidFill>
                <a:latin typeface="Calibri"/>
              </a:rPr>
              <a:t>BOTTOM OF PAGE → near-zero fixation</a:t>
            </a:r>
          </a:p>
        </p:txBody>
      </p:sp>
      <p:sp>
        <p:nvSpPr>
          <p:cNvPr id="18" name="TextBox 17"/>
          <p:cNvSpPr txBox="1"/>
          <p:nvPr/>
        </p:nvSpPr>
        <p:spPr>
          <a:xfrm>
            <a:off x="658368" y="4663440"/>
            <a:ext cx="3566160" cy="640080"/>
          </a:xfrm>
          <a:prstGeom prst="rect">
            <a:avLst/>
          </a:prstGeom>
          <a:noFill/>
        </p:spPr>
        <p:txBody>
          <a:bodyPr wrap="square">
            <a:spAutoFit/>
          </a:bodyPr>
          <a:lstStyle/>
          <a:p>
            <a:pPr algn="l"/>
            <a:r>
              <a:rPr sz="1000" b="0">
                <a:solidFill>
                  <a:srgbClr val="4A4A5A"/>
                </a:solidFill>
                <a:latin typeface="Calibri"/>
              </a:rPr>
              <a:t>F-pattern research by Nielsen Norman Group shows 80% of time is spent on the left half of a page.</a:t>
            </a:r>
          </a:p>
        </p:txBody>
      </p:sp>
      <p:sp>
        <p:nvSpPr>
          <p:cNvPr id="19" name="Rectangle 18"/>
          <p:cNvSpPr/>
          <p:nvPr/>
        </p:nvSpPr>
        <p:spPr>
          <a:xfrm>
            <a:off x="4754880" y="914400"/>
            <a:ext cx="7132320" cy="5257800"/>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987552"/>
            <a:ext cx="6766560" cy="347472"/>
          </a:xfrm>
          <a:prstGeom prst="rect">
            <a:avLst/>
          </a:prstGeom>
          <a:noFill/>
        </p:spPr>
        <p:txBody>
          <a:bodyPr wrap="square">
            <a:spAutoFit/>
          </a:bodyPr>
          <a:lstStyle/>
          <a:p>
            <a:pPr algn="l"/>
            <a:r>
              <a:rPr sz="1100" b="1">
                <a:solidFill>
                  <a:srgbClr val="4A4A5A"/>
                </a:solidFill>
                <a:latin typeface="Calibri"/>
              </a:rPr>
              <a:t>F-Pattern Impact on CollabX Features</a:t>
            </a:r>
          </a:p>
        </p:txBody>
      </p:sp>
      <p:sp>
        <p:nvSpPr>
          <p:cNvPr id="21" name="TextBox 20"/>
          <p:cNvSpPr txBox="1"/>
          <p:nvPr/>
        </p:nvSpPr>
        <p:spPr>
          <a:xfrm>
            <a:off x="4892040" y="1417320"/>
            <a:ext cx="1645920" cy="274320"/>
          </a:xfrm>
          <a:prstGeom prst="rect">
            <a:avLst/>
          </a:prstGeom>
          <a:noFill/>
        </p:spPr>
        <p:txBody>
          <a:bodyPr wrap="square">
            <a:spAutoFit/>
          </a:bodyPr>
          <a:lstStyle/>
          <a:p>
            <a:pPr algn="l"/>
            <a:r>
              <a:rPr sz="900" b="1">
                <a:solidFill>
                  <a:srgbClr val="4A4A5A"/>
                </a:solidFill>
                <a:latin typeface="Calibri"/>
              </a:rPr>
              <a:t>Screen</a:t>
            </a:r>
          </a:p>
        </p:txBody>
      </p:sp>
      <p:sp>
        <p:nvSpPr>
          <p:cNvPr id="22" name="TextBox 21"/>
          <p:cNvSpPr txBox="1"/>
          <p:nvPr/>
        </p:nvSpPr>
        <p:spPr>
          <a:xfrm>
            <a:off x="6537959" y="1417320"/>
            <a:ext cx="1828800" cy="274320"/>
          </a:xfrm>
          <a:prstGeom prst="rect">
            <a:avLst/>
          </a:prstGeom>
          <a:noFill/>
        </p:spPr>
        <p:txBody>
          <a:bodyPr wrap="square">
            <a:spAutoFit/>
          </a:bodyPr>
          <a:lstStyle/>
          <a:p>
            <a:pPr algn="l"/>
            <a:r>
              <a:rPr sz="900" b="1">
                <a:solidFill>
                  <a:srgbClr val="4A4A5A"/>
                </a:solidFill>
                <a:latin typeface="Calibri"/>
              </a:rPr>
              <a:t>Feature</a:t>
            </a:r>
          </a:p>
        </p:txBody>
      </p:sp>
      <p:sp>
        <p:nvSpPr>
          <p:cNvPr id="23" name="TextBox 22"/>
          <p:cNvSpPr txBox="1"/>
          <p:nvPr/>
        </p:nvSpPr>
        <p:spPr>
          <a:xfrm>
            <a:off x="8366759" y="1417320"/>
            <a:ext cx="1645920" cy="274320"/>
          </a:xfrm>
          <a:prstGeom prst="rect">
            <a:avLst/>
          </a:prstGeom>
          <a:noFill/>
        </p:spPr>
        <p:txBody>
          <a:bodyPr wrap="square">
            <a:spAutoFit/>
          </a:bodyPr>
          <a:lstStyle/>
          <a:p>
            <a:pPr algn="l"/>
            <a:r>
              <a:rPr sz="900" b="1">
                <a:solidFill>
                  <a:srgbClr val="4A4A5A"/>
                </a:solidFill>
                <a:latin typeface="Calibri"/>
              </a:rPr>
              <a:t>Current Issue</a:t>
            </a:r>
          </a:p>
        </p:txBody>
      </p:sp>
      <p:sp>
        <p:nvSpPr>
          <p:cNvPr id="24" name="TextBox 23"/>
          <p:cNvSpPr txBox="1"/>
          <p:nvPr/>
        </p:nvSpPr>
        <p:spPr>
          <a:xfrm>
            <a:off x="10012680" y="1417320"/>
            <a:ext cx="1645920" cy="274320"/>
          </a:xfrm>
          <a:prstGeom prst="rect">
            <a:avLst/>
          </a:prstGeom>
          <a:noFill/>
        </p:spPr>
        <p:txBody>
          <a:bodyPr wrap="square">
            <a:spAutoFit/>
          </a:bodyPr>
          <a:lstStyle/>
          <a:p>
            <a:pPr algn="l"/>
            <a:r>
              <a:rPr sz="900" b="1">
                <a:solidFill>
                  <a:srgbClr val="4A4A5A"/>
                </a:solidFill>
                <a:latin typeface="Calibri"/>
              </a:rPr>
              <a:t>Fix</a:t>
            </a:r>
          </a:p>
        </p:txBody>
      </p:sp>
      <p:sp>
        <p:nvSpPr>
          <p:cNvPr id="25" name="Rectangle 24"/>
          <p:cNvSpPr/>
          <p:nvPr/>
        </p:nvSpPr>
        <p:spPr>
          <a:xfrm>
            <a:off x="4800600" y="1709928"/>
            <a:ext cx="6995160" cy="5486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1783080"/>
            <a:ext cx="1645920" cy="457200"/>
          </a:xfrm>
          <a:prstGeom prst="rect">
            <a:avLst/>
          </a:prstGeom>
          <a:noFill/>
        </p:spPr>
        <p:txBody>
          <a:bodyPr wrap="square">
            <a:spAutoFit/>
          </a:bodyPr>
          <a:lstStyle/>
          <a:p>
            <a:pPr algn="l"/>
            <a:r>
              <a:rPr sz="900" b="0">
                <a:solidFill>
                  <a:srgbClr val="4A4A5A"/>
                </a:solidFill>
                <a:latin typeface="Calibri"/>
              </a:rPr>
              <a:t>Research Arena</a:t>
            </a:r>
          </a:p>
        </p:txBody>
      </p:sp>
      <p:sp>
        <p:nvSpPr>
          <p:cNvPr id="27" name="TextBox 26"/>
          <p:cNvSpPr txBox="1"/>
          <p:nvPr/>
        </p:nvSpPr>
        <p:spPr>
          <a:xfrm>
            <a:off x="6537959" y="1783080"/>
            <a:ext cx="1828800" cy="457200"/>
          </a:xfrm>
          <a:prstGeom prst="rect">
            <a:avLst/>
          </a:prstGeom>
          <a:noFill/>
        </p:spPr>
        <p:txBody>
          <a:bodyPr wrap="square">
            <a:spAutoFit/>
          </a:bodyPr>
          <a:lstStyle/>
          <a:p>
            <a:pPr algn="l"/>
            <a:r>
              <a:rPr sz="900" b="0">
                <a:solidFill>
                  <a:srgbClr val="4A4A5A"/>
                </a:solidFill>
                <a:latin typeface="Calibri"/>
              </a:rPr>
              <a:t>AI Score (right-aligned, bottom)</a:t>
            </a:r>
          </a:p>
        </p:txBody>
      </p:sp>
      <p:sp>
        <p:nvSpPr>
          <p:cNvPr id="28" name="TextBox 27"/>
          <p:cNvSpPr txBox="1"/>
          <p:nvPr/>
        </p:nvSpPr>
        <p:spPr>
          <a:xfrm>
            <a:off x="8366759" y="1783080"/>
            <a:ext cx="1645920" cy="457200"/>
          </a:xfrm>
          <a:prstGeom prst="rect">
            <a:avLst/>
          </a:prstGeom>
          <a:noFill/>
        </p:spPr>
        <p:txBody>
          <a:bodyPr wrap="square">
            <a:spAutoFit/>
          </a:bodyPr>
          <a:lstStyle/>
          <a:p>
            <a:pPr algn="l"/>
            <a:r>
              <a:rPr sz="900" b="1">
                <a:solidFill>
                  <a:srgbClr val="FF6B6B"/>
                </a:solidFill>
                <a:latin typeface="Calibri"/>
              </a:rPr>
              <a:t>Invisible</a:t>
            </a:r>
          </a:p>
        </p:txBody>
      </p:sp>
      <p:sp>
        <p:nvSpPr>
          <p:cNvPr id="29" name="TextBox 28"/>
          <p:cNvSpPr txBox="1"/>
          <p:nvPr/>
        </p:nvSpPr>
        <p:spPr>
          <a:xfrm>
            <a:off x="10012680" y="1783080"/>
            <a:ext cx="1645920" cy="457200"/>
          </a:xfrm>
          <a:prstGeom prst="rect">
            <a:avLst/>
          </a:prstGeom>
          <a:noFill/>
        </p:spPr>
        <p:txBody>
          <a:bodyPr wrap="square">
            <a:spAutoFit/>
          </a:bodyPr>
          <a:lstStyle/>
          <a:p>
            <a:pPr algn="l"/>
            <a:r>
              <a:rPr sz="900" b="0">
                <a:solidFill>
                  <a:srgbClr val="06D6A0"/>
                </a:solidFill>
                <a:latin typeface="Calibri"/>
              </a:rPr>
              <a:t>Move to left column</a:t>
            </a:r>
          </a:p>
        </p:txBody>
      </p:sp>
      <p:sp>
        <p:nvSpPr>
          <p:cNvPr id="30" name="TextBox 29"/>
          <p:cNvSpPr txBox="1"/>
          <p:nvPr/>
        </p:nvSpPr>
        <p:spPr>
          <a:xfrm>
            <a:off x="4892040" y="2377440"/>
            <a:ext cx="1645920" cy="457200"/>
          </a:xfrm>
          <a:prstGeom prst="rect">
            <a:avLst/>
          </a:prstGeom>
          <a:noFill/>
        </p:spPr>
        <p:txBody>
          <a:bodyPr wrap="square">
            <a:spAutoFit/>
          </a:bodyPr>
          <a:lstStyle/>
          <a:p>
            <a:pPr algn="l"/>
            <a:r>
              <a:rPr sz="900" b="0">
                <a:solidFill>
                  <a:srgbClr val="4A4A5A"/>
                </a:solidFill>
                <a:latin typeface="Calibri"/>
              </a:rPr>
              <a:t>Research Arena</a:t>
            </a:r>
          </a:p>
        </p:txBody>
      </p:sp>
      <p:sp>
        <p:nvSpPr>
          <p:cNvPr id="31" name="TextBox 30"/>
          <p:cNvSpPr txBox="1"/>
          <p:nvPr/>
        </p:nvSpPr>
        <p:spPr>
          <a:xfrm>
            <a:off x="6537959" y="2377440"/>
            <a:ext cx="1828800" cy="457200"/>
          </a:xfrm>
          <a:prstGeom prst="rect">
            <a:avLst/>
          </a:prstGeom>
          <a:noFill/>
        </p:spPr>
        <p:txBody>
          <a:bodyPr wrap="square">
            <a:spAutoFit/>
          </a:bodyPr>
          <a:lstStyle/>
          <a:p>
            <a:pPr algn="l"/>
            <a:r>
              <a:rPr sz="900" b="0">
                <a:solidFill>
                  <a:srgbClr val="4A4A5A"/>
                </a:solidFill>
                <a:latin typeface="Calibri"/>
              </a:rPr>
              <a:t>Template buttons (centre-row)</a:t>
            </a:r>
          </a:p>
        </p:txBody>
      </p:sp>
      <p:sp>
        <p:nvSpPr>
          <p:cNvPr id="32" name="TextBox 31"/>
          <p:cNvSpPr txBox="1"/>
          <p:nvPr/>
        </p:nvSpPr>
        <p:spPr>
          <a:xfrm>
            <a:off x="8366759" y="2377440"/>
            <a:ext cx="1645920" cy="457200"/>
          </a:xfrm>
          <a:prstGeom prst="rect">
            <a:avLst/>
          </a:prstGeom>
          <a:noFill/>
        </p:spPr>
        <p:txBody>
          <a:bodyPr wrap="square">
            <a:spAutoFit/>
          </a:bodyPr>
          <a:lstStyle/>
          <a:p>
            <a:pPr algn="l"/>
            <a:r>
              <a:rPr sz="900" b="1">
                <a:solidFill>
                  <a:srgbClr val="FFB703"/>
                </a:solidFill>
                <a:latin typeface="Calibri"/>
              </a:rPr>
              <a:t>Often missed</a:t>
            </a:r>
          </a:p>
        </p:txBody>
      </p:sp>
      <p:sp>
        <p:nvSpPr>
          <p:cNvPr id="33" name="TextBox 32"/>
          <p:cNvSpPr txBox="1"/>
          <p:nvPr/>
        </p:nvSpPr>
        <p:spPr>
          <a:xfrm>
            <a:off x="10012680" y="2377440"/>
            <a:ext cx="1645920" cy="457200"/>
          </a:xfrm>
          <a:prstGeom prst="rect">
            <a:avLst/>
          </a:prstGeom>
          <a:noFill/>
        </p:spPr>
        <p:txBody>
          <a:bodyPr wrap="square">
            <a:spAutoFit/>
          </a:bodyPr>
          <a:lstStyle/>
          <a:p>
            <a:pPr algn="l"/>
            <a:r>
              <a:rPr sz="900" b="0">
                <a:solidFill>
                  <a:srgbClr val="06D6A0"/>
                </a:solidFill>
                <a:latin typeface="Calibri"/>
              </a:rPr>
              <a:t>Full-width, labelled</a:t>
            </a:r>
          </a:p>
        </p:txBody>
      </p:sp>
      <p:sp>
        <p:nvSpPr>
          <p:cNvPr id="34" name="Rectangle 33"/>
          <p:cNvSpPr/>
          <p:nvPr/>
        </p:nvSpPr>
        <p:spPr>
          <a:xfrm>
            <a:off x="4800600" y="2898648"/>
            <a:ext cx="6995160" cy="5486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2971800"/>
            <a:ext cx="1645920" cy="457200"/>
          </a:xfrm>
          <a:prstGeom prst="rect">
            <a:avLst/>
          </a:prstGeom>
          <a:noFill/>
        </p:spPr>
        <p:txBody>
          <a:bodyPr wrap="square">
            <a:spAutoFit/>
          </a:bodyPr>
          <a:lstStyle/>
          <a:p>
            <a:pPr algn="l"/>
            <a:r>
              <a:rPr sz="900" b="0">
                <a:solidFill>
                  <a:srgbClr val="4A4A5A"/>
                </a:solidFill>
                <a:latin typeface="Calibri"/>
              </a:rPr>
              <a:t>Admin Arena</a:t>
            </a:r>
          </a:p>
        </p:txBody>
      </p:sp>
      <p:sp>
        <p:nvSpPr>
          <p:cNvPr id="36" name="TextBox 35"/>
          <p:cNvSpPr txBox="1"/>
          <p:nvPr/>
        </p:nvSpPr>
        <p:spPr>
          <a:xfrm>
            <a:off x="6537959" y="2971800"/>
            <a:ext cx="1828800" cy="457200"/>
          </a:xfrm>
          <a:prstGeom prst="rect">
            <a:avLst/>
          </a:prstGeom>
          <a:noFill/>
        </p:spPr>
        <p:txBody>
          <a:bodyPr wrap="square">
            <a:spAutoFit/>
          </a:bodyPr>
          <a:lstStyle/>
          <a:p>
            <a:pPr algn="l"/>
            <a:r>
              <a:rPr sz="900" b="0">
                <a:solidFill>
                  <a:srgbClr val="4A4A5A"/>
                </a:solidFill>
                <a:latin typeface="Calibri"/>
              </a:rPr>
              <a:t>AI Score badge (top-right)</a:t>
            </a:r>
          </a:p>
        </p:txBody>
      </p:sp>
      <p:sp>
        <p:nvSpPr>
          <p:cNvPr id="37" name="TextBox 36"/>
          <p:cNvSpPr txBox="1"/>
          <p:nvPr/>
        </p:nvSpPr>
        <p:spPr>
          <a:xfrm>
            <a:off x="8366759" y="2971800"/>
            <a:ext cx="1645920" cy="457200"/>
          </a:xfrm>
          <a:prstGeom prst="rect">
            <a:avLst/>
          </a:prstGeom>
          <a:noFill/>
        </p:spPr>
        <p:txBody>
          <a:bodyPr wrap="square">
            <a:spAutoFit/>
          </a:bodyPr>
          <a:lstStyle/>
          <a:p>
            <a:pPr algn="l"/>
            <a:r>
              <a:rPr sz="900" b="1">
                <a:solidFill>
                  <a:srgbClr val="FF6B6B"/>
                </a:solidFill>
                <a:latin typeface="Calibri"/>
              </a:rPr>
              <a:t>Near-zero fixation</a:t>
            </a:r>
          </a:p>
        </p:txBody>
      </p:sp>
      <p:sp>
        <p:nvSpPr>
          <p:cNvPr id="38" name="TextBox 37"/>
          <p:cNvSpPr txBox="1"/>
          <p:nvPr/>
        </p:nvSpPr>
        <p:spPr>
          <a:xfrm>
            <a:off x="10012680" y="2971800"/>
            <a:ext cx="1645920" cy="457200"/>
          </a:xfrm>
          <a:prstGeom prst="rect">
            <a:avLst/>
          </a:prstGeom>
          <a:noFill/>
        </p:spPr>
        <p:txBody>
          <a:bodyPr wrap="square">
            <a:spAutoFit/>
          </a:bodyPr>
          <a:lstStyle/>
          <a:p>
            <a:pPr algn="l"/>
            <a:r>
              <a:rPr sz="900" b="0">
                <a:solidFill>
                  <a:srgbClr val="06D6A0"/>
                </a:solidFill>
                <a:latin typeface="Calibri"/>
              </a:rPr>
              <a:t>Move below student name (left)</a:t>
            </a:r>
          </a:p>
        </p:txBody>
      </p:sp>
      <p:sp>
        <p:nvSpPr>
          <p:cNvPr id="39" name="TextBox 38"/>
          <p:cNvSpPr txBox="1"/>
          <p:nvPr/>
        </p:nvSpPr>
        <p:spPr>
          <a:xfrm>
            <a:off x="4892040" y="3566160"/>
            <a:ext cx="1645920" cy="457200"/>
          </a:xfrm>
          <a:prstGeom prst="rect">
            <a:avLst/>
          </a:prstGeom>
          <a:noFill/>
        </p:spPr>
        <p:txBody>
          <a:bodyPr wrap="square">
            <a:spAutoFit/>
          </a:bodyPr>
          <a:lstStyle/>
          <a:p>
            <a:pPr algn="l"/>
            <a:r>
              <a:rPr sz="900" b="0">
                <a:solidFill>
                  <a:srgbClr val="4A4A5A"/>
                </a:solidFill>
                <a:latin typeface="Calibri"/>
              </a:rPr>
              <a:t>Admin Arena</a:t>
            </a:r>
          </a:p>
        </p:txBody>
      </p:sp>
      <p:sp>
        <p:nvSpPr>
          <p:cNvPr id="40" name="TextBox 39"/>
          <p:cNvSpPr txBox="1"/>
          <p:nvPr/>
        </p:nvSpPr>
        <p:spPr>
          <a:xfrm>
            <a:off x="6537959" y="3566160"/>
            <a:ext cx="1828800" cy="457200"/>
          </a:xfrm>
          <a:prstGeom prst="rect">
            <a:avLst/>
          </a:prstGeom>
          <a:noFill/>
        </p:spPr>
        <p:txBody>
          <a:bodyPr wrap="square">
            <a:spAutoFit/>
          </a:bodyPr>
          <a:lstStyle/>
          <a:p>
            <a:pPr algn="l"/>
            <a:r>
              <a:rPr sz="900" b="0">
                <a:solidFill>
                  <a:srgbClr val="4A4A5A"/>
                </a:solidFill>
                <a:latin typeface="Calibri"/>
              </a:rPr>
              <a:t>Proposal text (centre)</a:t>
            </a:r>
          </a:p>
        </p:txBody>
      </p:sp>
      <p:sp>
        <p:nvSpPr>
          <p:cNvPr id="41" name="TextBox 40"/>
          <p:cNvSpPr txBox="1"/>
          <p:nvPr/>
        </p:nvSpPr>
        <p:spPr>
          <a:xfrm>
            <a:off x="8366759" y="3566160"/>
            <a:ext cx="1645920" cy="457200"/>
          </a:xfrm>
          <a:prstGeom prst="rect">
            <a:avLst/>
          </a:prstGeom>
          <a:noFill/>
        </p:spPr>
        <p:txBody>
          <a:bodyPr wrap="square">
            <a:spAutoFit/>
          </a:bodyPr>
          <a:lstStyle/>
          <a:p>
            <a:pPr algn="l"/>
            <a:r>
              <a:rPr sz="900" b="1">
                <a:solidFill>
                  <a:srgbClr val="FFB703"/>
                </a:solidFill>
                <a:latin typeface="Calibri"/>
              </a:rPr>
              <a:t>Read after action buttons</a:t>
            </a:r>
          </a:p>
        </p:txBody>
      </p:sp>
      <p:sp>
        <p:nvSpPr>
          <p:cNvPr id="42" name="TextBox 41"/>
          <p:cNvSpPr txBox="1"/>
          <p:nvPr/>
        </p:nvSpPr>
        <p:spPr>
          <a:xfrm>
            <a:off x="10012680" y="3566160"/>
            <a:ext cx="1645920" cy="457200"/>
          </a:xfrm>
          <a:prstGeom prst="rect">
            <a:avLst/>
          </a:prstGeom>
          <a:noFill/>
        </p:spPr>
        <p:txBody>
          <a:bodyPr wrap="square">
            <a:spAutoFit/>
          </a:bodyPr>
          <a:lstStyle/>
          <a:p>
            <a:pPr algn="l"/>
            <a:r>
              <a:rPr sz="900" b="0">
                <a:solidFill>
                  <a:srgbClr val="06D6A0"/>
                </a:solidFill>
                <a:latin typeface="Calibri"/>
              </a:rPr>
              <a:t>Reveal after click</a:t>
            </a:r>
          </a:p>
        </p:txBody>
      </p:sp>
      <p:sp>
        <p:nvSpPr>
          <p:cNvPr id="43" name="Rectangle 42"/>
          <p:cNvSpPr/>
          <p:nvPr/>
        </p:nvSpPr>
        <p:spPr>
          <a:xfrm>
            <a:off x="4800600" y="4087368"/>
            <a:ext cx="6995160" cy="5486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92040" y="4160520"/>
            <a:ext cx="1645920" cy="457200"/>
          </a:xfrm>
          <a:prstGeom prst="rect">
            <a:avLst/>
          </a:prstGeom>
          <a:noFill/>
        </p:spPr>
        <p:txBody>
          <a:bodyPr wrap="square">
            <a:spAutoFit/>
          </a:bodyPr>
          <a:lstStyle/>
          <a:p>
            <a:pPr algn="l"/>
            <a:r>
              <a:rPr sz="900" b="0">
                <a:solidFill>
                  <a:srgbClr val="4A4A5A"/>
                </a:solidFill>
                <a:latin typeface="Calibri"/>
              </a:rPr>
              <a:t>Skills Page</a:t>
            </a:r>
          </a:p>
        </p:txBody>
      </p:sp>
      <p:sp>
        <p:nvSpPr>
          <p:cNvPr id="45" name="TextBox 44"/>
          <p:cNvSpPr txBox="1"/>
          <p:nvPr/>
        </p:nvSpPr>
        <p:spPr>
          <a:xfrm>
            <a:off x="6537959" y="4160520"/>
            <a:ext cx="1828800" cy="457200"/>
          </a:xfrm>
          <a:prstGeom prst="rect">
            <a:avLst/>
          </a:prstGeom>
          <a:noFill/>
        </p:spPr>
        <p:txBody>
          <a:bodyPr wrap="square">
            <a:spAutoFit/>
          </a:bodyPr>
          <a:lstStyle/>
          <a:p>
            <a:pPr algn="l"/>
            <a:r>
              <a:rPr sz="900" b="0">
                <a:solidFill>
                  <a:srgbClr val="4A4A5A"/>
                </a:solidFill>
                <a:latin typeface="Calibri"/>
              </a:rPr>
              <a:t>Skill gap analysis (bottom)</a:t>
            </a:r>
          </a:p>
        </p:txBody>
      </p:sp>
      <p:sp>
        <p:nvSpPr>
          <p:cNvPr id="46" name="TextBox 45"/>
          <p:cNvSpPr txBox="1"/>
          <p:nvPr/>
        </p:nvSpPr>
        <p:spPr>
          <a:xfrm>
            <a:off x="8366759" y="4160520"/>
            <a:ext cx="1645920" cy="457200"/>
          </a:xfrm>
          <a:prstGeom prst="rect">
            <a:avLst/>
          </a:prstGeom>
          <a:noFill/>
        </p:spPr>
        <p:txBody>
          <a:bodyPr wrap="square">
            <a:spAutoFit/>
          </a:bodyPr>
          <a:lstStyle/>
          <a:p>
            <a:pPr algn="l"/>
            <a:r>
              <a:rPr sz="900" b="1">
                <a:solidFill>
                  <a:srgbClr val="FF6B6B"/>
                </a:solidFill>
                <a:latin typeface="Calibri"/>
              </a:rPr>
              <a:t>Invisible</a:t>
            </a:r>
          </a:p>
        </p:txBody>
      </p:sp>
      <p:sp>
        <p:nvSpPr>
          <p:cNvPr id="47" name="TextBox 46"/>
          <p:cNvSpPr txBox="1"/>
          <p:nvPr/>
        </p:nvSpPr>
        <p:spPr>
          <a:xfrm>
            <a:off x="10012680" y="4160520"/>
            <a:ext cx="1645920" cy="457200"/>
          </a:xfrm>
          <a:prstGeom prst="rect">
            <a:avLst/>
          </a:prstGeom>
          <a:noFill/>
        </p:spPr>
        <p:txBody>
          <a:bodyPr wrap="square">
            <a:spAutoFit/>
          </a:bodyPr>
          <a:lstStyle/>
          <a:p>
            <a:pPr algn="l"/>
            <a:r>
              <a:rPr sz="900" b="0">
                <a:solidFill>
                  <a:srgbClr val="06D6A0"/>
                </a:solidFill>
                <a:latin typeface="Calibri"/>
              </a:rPr>
              <a:t>Move to top of page</a:t>
            </a:r>
          </a:p>
        </p:txBody>
      </p:sp>
      <p:sp>
        <p:nvSpPr>
          <p:cNvPr id="48" name="TextBox 47"/>
          <p:cNvSpPr txBox="1"/>
          <p:nvPr/>
        </p:nvSpPr>
        <p:spPr>
          <a:xfrm>
            <a:off x="4892040" y="4754880"/>
            <a:ext cx="1645920" cy="457200"/>
          </a:xfrm>
          <a:prstGeom prst="rect">
            <a:avLst/>
          </a:prstGeom>
          <a:noFill/>
        </p:spPr>
        <p:txBody>
          <a:bodyPr wrap="square">
            <a:spAutoFit/>
          </a:bodyPr>
          <a:lstStyle/>
          <a:p>
            <a:pPr algn="l"/>
            <a:r>
              <a:rPr sz="900" b="0">
                <a:solidFill>
                  <a:srgbClr val="4A4A5A"/>
                </a:solidFill>
                <a:latin typeface="Calibri"/>
              </a:rPr>
              <a:t>Skills Page</a:t>
            </a:r>
          </a:p>
        </p:txBody>
      </p:sp>
      <p:sp>
        <p:nvSpPr>
          <p:cNvPr id="49" name="TextBox 48"/>
          <p:cNvSpPr txBox="1"/>
          <p:nvPr/>
        </p:nvSpPr>
        <p:spPr>
          <a:xfrm>
            <a:off x="6537959" y="4754880"/>
            <a:ext cx="1828800" cy="457200"/>
          </a:xfrm>
          <a:prstGeom prst="rect">
            <a:avLst/>
          </a:prstGeom>
          <a:noFill/>
        </p:spPr>
        <p:txBody>
          <a:bodyPr wrap="square">
            <a:spAutoFit/>
          </a:bodyPr>
          <a:lstStyle/>
          <a:p>
            <a:pPr algn="l"/>
            <a:r>
              <a:rPr sz="900" b="0">
                <a:solidFill>
                  <a:srgbClr val="4A4A5A"/>
                </a:solidFill>
                <a:latin typeface="Calibri"/>
              </a:rPr>
              <a:t>Completeness bar (thin top)</a:t>
            </a:r>
          </a:p>
        </p:txBody>
      </p:sp>
      <p:sp>
        <p:nvSpPr>
          <p:cNvPr id="50" name="TextBox 49"/>
          <p:cNvSpPr txBox="1"/>
          <p:nvPr/>
        </p:nvSpPr>
        <p:spPr>
          <a:xfrm>
            <a:off x="8366759" y="4754880"/>
            <a:ext cx="1645920" cy="457200"/>
          </a:xfrm>
          <a:prstGeom prst="rect">
            <a:avLst/>
          </a:prstGeom>
          <a:noFill/>
        </p:spPr>
        <p:txBody>
          <a:bodyPr wrap="square">
            <a:spAutoFit/>
          </a:bodyPr>
          <a:lstStyle/>
          <a:p>
            <a:pPr algn="l"/>
            <a:r>
              <a:rPr sz="900" b="1">
                <a:solidFill>
                  <a:srgbClr val="FFB703"/>
                </a:solidFill>
                <a:latin typeface="Calibri"/>
              </a:rPr>
              <a:t>Ignored</a:t>
            </a:r>
          </a:p>
        </p:txBody>
      </p:sp>
      <p:sp>
        <p:nvSpPr>
          <p:cNvPr id="51" name="TextBox 50"/>
          <p:cNvSpPr txBox="1"/>
          <p:nvPr/>
        </p:nvSpPr>
        <p:spPr>
          <a:xfrm>
            <a:off x="10012680" y="4754880"/>
            <a:ext cx="1645920" cy="457200"/>
          </a:xfrm>
          <a:prstGeom prst="rect">
            <a:avLst/>
          </a:prstGeom>
          <a:noFill/>
        </p:spPr>
        <p:txBody>
          <a:bodyPr wrap="square">
            <a:spAutoFit/>
          </a:bodyPr>
          <a:lstStyle/>
          <a:p>
            <a:pPr algn="l"/>
            <a:r>
              <a:rPr sz="900" b="0">
                <a:solidFill>
                  <a:srgbClr val="06D6A0"/>
                </a:solidFill>
                <a:latin typeface="Calibri"/>
              </a:rPr>
              <a:t>Large circular indicator</a:t>
            </a:r>
          </a:p>
        </p:txBody>
      </p:sp>
      <p:sp>
        <p:nvSpPr>
          <p:cNvPr id="52" name="Rectangle 51"/>
          <p:cNvSpPr/>
          <p:nvPr/>
        </p:nvSpPr>
        <p:spPr>
          <a:xfrm>
            <a:off x="4800600" y="5276088"/>
            <a:ext cx="6995160" cy="5486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92040" y="5349240"/>
            <a:ext cx="1645920" cy="457200"/>
          </a:xfrm>
          <a:prstGeom prst="rect">
            <a:avLst/>
          </a:prstGeom>
          <a:noFill/>
        </p:spPr>
        <p:txBody>
          <a:bodyPr wrap="square">
            <a:spAutoFit/>
          </a:bodyPr>
          <a:lstStyle/>
          <a:p>
            <a:pPr algn="l"/>
            <a:r>
              <a:rPr sz="900" b="0">
                <a:solidFill>
                  <a:srgbClr val="4A4A5A"/>
                </a:solidFill>
                <a:latin typeface="Calibri"/>
              </a:rPr>
              <a:t>All screens</a:t>
            </a:r>
          </a:p>
        </p:txBody>
      </p:sp>
      <p:sp>
        <p:nvSpPr>
          <p:cNvPr id="54" name="TextBox 53"/>
          <p:cNvSpPr txBox="1"/>
          <p:nvPr/>
        </p:nvSpPr>
        <p:spPr>
          <a:xfrm>
            <a:off x="6537959" y="5349240"/>
            <a:ext cx="1828800" cy="457200"/>
          </a:xfrm>
          <a:prstGeom prst="rect">
            <a:avLst/>
          </a:prstGeom>
          <a:noFill/>
        </p:spPr>
        <p:txBody>
          <a:bodyPr wrap="square">
            <a:spAutoFit/>
          </a:bodyPr>
          <a:lstStyle/>
          <a:p>
            <a:pPr algn="l"/>
            <a:r>
              <a:rPr sz="900" b="0">
                <a:solidFill>
                  <a:srgbClr val="4A4A5A"/>
                </a:solidFill>
                <a:latin typeface="Calibri"/>
              </a:rPr>
              <a:t>Right-column content</a:t>
            </a:r>
          </a:p>
        </p:txBody>
      </p:sp>
      <p:sp>
        <p:nvSpPr>
          <p:cNvPr id="55" name="TextBox 54"/>
          <p:cNvSpPr txBox="1"/>
          <p:nvPr/>
        </p:nvSpPr>
        <p:spPr>
          <a:xfrm>
            <a:off x="8366759" y="5349240"/>
            <a:ext cx="1645920" cy="457200"/>
          </a:xfrm>
          <a:prstGeom prst="rect">
            <a:avLst/>
          </a:prstGeom>
          <a:noFill/>
        </p:spPr>
        <p:txBody>
          <a:bodyPr wrap="square">
            <a:spAutoFit/>
          </a:bodyPr>
          <a:lstStyle/>
          <a:p>
            <a:pPr algn="l"/>
            <a:r>
              <a:rPr sz="900" b="1">
                <a:solidFill>
                  <a:srgbClr val="FF9900"/>
                </a:solidFill>
                <a:latin typeface="Calibri"/>
              </a:rPr>
              <a:t>Low attention</a:t>
            </a:r>
          </a:p>
        </p:txBody>
      </p:sp>
      <p:sp>
        <p:nvSpPr>
          <p:cNvPr id="56" name="TextBox 55"/>
          <p:cNvSpPr txBox="1"/>
          <p:nvPr/>
        </p:nvSpPr>
        <p:spPr>
          <a:xfrm>
            <a:off x="10012680" y="5349240"/>
            <a:ext cx="1645920" cy="457200"/>
          </a:xfrm>
          <a:prstGeom prst="rect">
            <a:avLst/>
          </a:prstGeom>
          <a:noFill/>
        </p:spPr>
        <p:txBody>
          <a:bodyPr wrap="square">
            <a:spAutoFit/>
          </a:bodyPr>
          <a:lstStyle/>
          <a:p>
            <a:pPr algn="l"/>
            <a:r>
              <a:rPr sz="900" b="0">
                <a:solidFill>
                  <a:srgbClr val="06D6A0"/>
                </a:solidFill>
                <a:latin typeface="Calibri"/>
              </a:rPr>
              <a:t>Shift critical info left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1800" b="1">
                <a:solidFill>
                  <a:srgbClr val="FFFFFF"/>
                </a:solidFill>
                <a:latin typeface="Calibri"/>
              </a:rPr>
              <a:t>DESIGN IMPROVEMENTS — Before vs After</a:t>
            </a:r>
          </a:p>
        </p:txBody>
      </p:sp>
      <p:sp>
        <p:nvSpPr>
          <p:cNvPr id="5" name="Rectangle 4"/>
          <p:cNvSpPr/>
          <p:nvPr/>
        </p:nvSpPr>
        <p:spPr>
          <a:xfrm>
            <a:off x="365760" y="914400"/>
            <a:ext cx="5577840" cy="1755648"/>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5577840" cy="43891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4114800" cy="329184"/>
          </a:xfrm>
          <a:prstGeom prst="rect">
            <a:avLst/>
          </a:prstGeom>
          <a:noFill/>
        </p:spPr>
        <p:txBody>
          <a:bodyPr wrap="square">
            <a:spAutoFit/>
          </a:bodyPr>
          <a:lstStyle/>
          <a:p>
            <a:pPr algn="l"/>
            <a:r>
              <a:rPr sz="1200" b="1">
                <a:solidFill>
                  <a:srgbClr val="FFFFFF"/>
                </a:solidFill>
                <a:latin typeface="Calibri"/>
              </a:rPr>
              <a:t>Template Buttons</a:t>
            </a:r>
          </a:p>
        </p:txBody>
      </p:sp>
      <p:sp>
        <p:nvSpPr>
          <p:cNvPr id="8" name="Rounded Rectangle 7"/>
          <p:cNvSpPr/>
          <p:nvPr/>
        </p:nvSpPr>
        <p:spPr>
          <a:xfrm>
            <a:off x="4754880" y="1005840"/>
            <a:ext cx="105156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024128"/>
            <a:ext cx="960119" cy="228600"/>
          </a:xfrm>
          <a:prstGeom prst="rect">
            <a:avLst/>
          </a:prstGeom>
          <a:noFill/>
        </p:spPr>
        <p:txBody>
          <a:bodyPr wrap="square">
            <a:spAutoFit/>
          </a:bodyPr>
          <a:lstStyle/>
          <a:p>
            <a:pPr algn="ctr"/>
            <a:r>
              <a:rPr sz="800" b="1">
                <a:solidFill>
                  <a:srgbClr val="00B4D8"/>
                </a:solidFill>
                <a:latin typeface="Calibri"/>
              </a:rPr>
              <a:t>Research Arena</a:t>
            </a:r>
          </a:p>
        </p:txBody>
      </p:sp>
      <p:sp>
        <p:nvSpPr>
          <p:cNvPr id="10" name="Rectangle 9"/>
          <p:cNvSpPr/>
          <p:nvPr/>
        </p:nvSpPr>
        <p:spPr>
          <a:xfrm>
            <a:off x="475488" y="1444752"/>
            <a:ext cx="2468880" cy="256032"/>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1453895"/>
            <a:ext cx="685800" cy="219456"/>
          </a:xfrm>
          <a:prstGeom prst="rect">
            <a:avLst/>
          </a:prstGeom>
          <a:noFill/>
        </p:spPr>
        <p:txBody>
          <a:bodyPr wrap="square">
            <a:spAutoFit/>
          </a:bodyPr>
          <a:lstStyle/>
          <a:p>
            <a:pPr algn="l"/>
            <a:r>
              <a:rPr sz="700" b="1">
                <a:solidFill>
                  <a:srgbClr val="FF6B6B"/>
                </a:solidFill>
                <a:latin typeface="Calibri"/>
              </a:rPr>
              <a:t>BEFORE</a:t>
            </a:r>
          </a:p>
        </p:txBody>
      </p:sp>
      <p:sp>
        <p:nvSpPr>
          <p:cNvPr id="12" name="TextBox 11"/>
          <p:cNvSpPr txBox="1"/>
          <p:nvPr/>
        </p:nvSpPr>
        <p:spPr>
          <a:xfrm>
            <a:off x="475488" y="1737360"/>
            <a:ext cx="2468880" cy="777240"/>
          </a:xfrm>
          <a:prstGeom prst="rect">
            <a:avLst/>
          </a:prstGeom>
          <a:noFill/>
        </p:spPr>
        <p:txBody>
          <a:bodyPr wrap="square">
            <a:spAutoFit/>
          </a:bodyPr>
          <a:lstStyle/>
          <a:p>
            <a:pPr algn="l"/>
            <a:r>
              <a:rPr sz="900" b="0">
                <a:solidFill>
                  <a:srgbClr val="4A4A5A"/>
                </a:solidFill>
                <a:latin typeface="Calibri"/>
              </a:rPr>
              <a:t>Small outline buttons, low contrast, labelled only by style</a:t>
            </a:r>
          </a:p>
        </p:txBody>
      </p:sp>
      <p:sp>
        <p:nvSpPr>
          <p:cNvPr id="13" name="TextBox 12"/>
          <p:cNvSpPr txBox="1"/>
          <p:nvPr/>
        </p:nvSpPr>
        <p:spPr>
          <a:xfrm>
            <a:off x="3017520" y="1627632"/>
            <a:ext cx="365760" cy="457200"/>
          </a:xfrm>
          <a:prstGeom prst="rect">
            <a:avLst/>
          </a:prstGeom>
          <a:noFill/>
        </p:spPr>
        <p:txBody>
          <a:bodyPr wrap="square">
            <a:spAutoFit/>
          </a:bodyPr>
          <a:lstStyle/>
          <a:p>
            <a:pPr algn="ctr"/>
            <a:r>
              <a:rPr sz="1800" b="1">
                <a:solidFill>
                  <a:srgbClr val="00B4D8"/>
                </a:solidFill>
                <a:latin typeface="Calibri"/>
              </a:rPr>
              <a:t>→</a:t>
            </a:r>
          </a:p>
        </p:txBody>
      </p:sp>
      <p:sp>
        <p:nvSpPr>
          <p:cNvPr id="14" name="Rectangle 13"/>
          <p:cNvSpPr/>
          <p:nvPr/>
        </p:nvSpPr>
        <p:spPr>
          <a:xfrm>
            <a:off x="3291840" y="1444752"/>
            <a:ext cx="2468880" cy="256032"/>
          </a:xfrm>
          <a:prstGeom prst="rect">
            <a:avLst/>
          </a:prstGeom>
          <a:solidFill>
            <a:srgbClr val="E6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1453895"/>
            <a:ext cx="640080" cy="219456"/>
          </a:xfrm>
          <a:prstGeom prst="rect">
            <a:avLst/>
          </a:prstGeom>
          <a:noFill/>
        </p:spPr>
        <p:txBody>
          <a:bodyPr wrap="square">
            <a:spAutoFit/>
          </a:bodyPr>
          <a:lstStyle/>
          <a:p>
            <a:pPr algn="l"/>
            <a:r>
              <a:rPr sz="700" b="1">
                <a:solidFill>
                  <a:srgbClr val="06D6A0"/>
                </a:solidFill>
                <a:latin typeface="Calibri"/>
              </a:rPr>
              <a:t>AFTER</a:t>
            </a:r>
          </a:p>
        </p:txBody>
      </p:sp>
      <p:sp>
        <p:nvSpPr>
          <p:cNvPr id="16" name="TextBox 15"/>
          <p:cNvSpPr txBox="1"/>
          <p:nvPr/>
        </p:nvSpPr>
        <p:spPr>
          <a:xfrm>
            <a:off x="3291840" y="1737360"/>
            <a:ext cx="2468880" cy="777240"/>
          </a:xfrm>
          <a:prstGeom prst="rect">
            <a:avLst/>
          </a:prstGeom>
          <a:noFill/>
        </p:spPr>
        <p:txBody>
          <a:bodyPr wrap="square">
            <a:spAutoFit/>
          </a:bodyPr>
          <a:lstStyle/>
          <a:p>
            <a:pPr algn="l"/>
            <a:r>
              <a:rPr sz="900" b="0">
                <a:solidFill>
                  <a:srgbClr val="4A4A5A"/>
                </a:solidFill>
                <a:latin typeface="Calibri"/>
              </a:rPr>
              <a:t>Full-width coloured buttons with 'Start with a template ↓' label. Eye drawn immediately.</a:t>
            </a:r>
          </a:p>
        </p:txBody>
      </p:sp>
      <p:sp>
        <p:nvSpPr>
          <p:cNvPr id="17" name="Rectangle 16"/>
          <p:cNvSpPr/>
          <p:nvPr/>
        </p:nvSpPr>
        <p:spPr>
          <a:xfrm>
            <a:off x="6309360" y="914400"/>
            <a:ext cx="5577840" cy="1755648"/>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914400"/>
            <a:ext cx="5577840" cy="43891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987552"/>
            <a:ext cx="4114800" cy="329184"/>
          </a:xfrm>
          <a:prstGeom prst="rect">
            <a:avLst/>
          </a:prstGeom>
          <a:noFill/>
        </p:spPr>
        <p:txBody>
          <a:bodyPr wrap="square">
            <a:spAutoFit/>
          </a:bodyPr>
          <a:lstStyle/>
          <a:p>
            <a:pPr algn="l"/>
            <a:r>
              <a:rPr sz="1200" b="1">
                <a:solidFill>
                  <a:srgbClr val="FFFFFF"/>
                </a:solidFill>
                <a:latin typeface="Calibri"/>
              </a:rPr>
              <a:t>AI Score (Student)</a:t>
            </a:r>
          </a:p>
        </p:txBody>
      </p:sp>
      <p:sp>
        <p:nvSpPr>
          <p:cNvPr id="20" name="Rounded Rectangle 19"/>
          <p:cNvSpPr/>
          <p:nvPr/>
        </p:nvSpPr>
        <p:spPr>
          <a:xfrm>
            <a:off x="10698480" y="1005840"/>
            <a:ext cx="105156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44200" y="1024128"/>
            <a:ext cx="960119" cy="228600"/>
          </a:xfrm>
          <a:prstGeom prst="rect">
            <a:avLst/>
          </a:prstGeom>
          <a:noFill/>
        </p:spPr>
        <p:txBody>
          <a:bodyPr wrap="square">
            <a:spAutoFit/>
          </a:bodyPr>
          <a:lstStyle/>
          <a:p>
            <a:pPr algn="ctr"/>
            <a:r>
              <a:rPr sz="800" b="1">
                <a:solidFill>
                  <a:srgbClr val="06D6A0"/>
                </a:solidFill>
                <a:latin typeface="Calibri"/>
              </a:rPr>
              <a:t>Research Arena</a:t>
            </a:r>
          </a:p>
        </p:txBody>
      </p:sp>
      <p:sp>
        <p:nvSpPr>
          <p:cNvPr id="22" name="Rectangle 21"/>
          <p:cNvSpPr/>
          <p:nvPr/>
        </p:nvSpPr>
        <p:spPr>
          <a:xfrm>
            <a:off x="6419088" y="1444752"/>
            <a:ext cx="2468880" cy="256032"/>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1453895"/>
            <a:ext cx="685800" cy="219456"/>
          </a:xfrm>
          <a:prstGeom prst="rect">
            <a:avLst/>
          </a:prstGeom>
          <a:noFill/>
        </p:spPr>
        <p:txBody>
          <a:bodyPr wrap="square">
            <a:spAutoFit/>
          </a:bodyPr>
          <a:lstStyle/>
          <a:p>
            <a:pPr algn="l"/>
            <a:r>
              <a:rPr sz="700" b="1">
                <a:solidFill>
                  <a:srgbClr val="FF6B6B"/>
                </a:solidFill>
                <a:latin typeface="Calibri"/>
              </a:rPr>
              <a:t>BEFORE</a:t>
            </a:r>
          </a:p>
        </p:txBody>
      </p:sp>
      <p:sp>
        <p:nvSpPr>
          <p:cNvPr id="24" name="TextBox 23"/>
          <p:cNvSpPr txBox="1"/>
          <p:nvPr/>
        </p:nvSpPr>
        <p:spPr>
          <a:xfrm>
            <a:off x="6419088" y="1737360"/>
            <a:ext cx="2468880" cy="777240"/>
          </a:xfrm>
          <a:prstGeom prst="rect">
            <a:avLst/>
          </a:prstGeom>
          <a:noFill/>
        </p:spPr>
        <p:txBody>
          <a:bodyPr wrap="square">
            <a:spAutoFit/>
          </a:bodyPr>
          <a:lstStyle/>
          <a:p>
            <a:pPr algn="l"/>
            <a:r>
              <a:rPr sz="900" b="0">
                <a:solidFill>
                  <a:srgbClr val="4A4A5A"/>
                </a:solidFill>
                <a:latin typeface="Calibri"/>
              </a:rPr>
              <a:t>Appears below fold after submission. Predicted fixation: zero.</a:t>
            </a:r>
          </a:p>
        </p:txBody>
      </p:sp>
      <p:sp>
        <p:nvSpPr>
          <p:cNvPr id="25" name="TextBox 24"/>
          <p:cNvSpPr txBox="1"/>
          <p:nvPr/>
        </p:nvSpPr>
        <p:spPr>
          <a:xfrm>
            <a:off x="8961120" y="1627632"/>
            <a:ext cx="365760" cy="457200"/>
          </a:xfrm>
          <a:prstGeom prst="rect">
            <a:avLst/>
          </a:prstGeom>
          <a:noFill/>
        </p:spPr>
        <p:txBody>
          <a:bodyPr wrap="square">
            <a:spAutoFit/>
          </a:bodyPr>
          <a:lstStyle/>
          <a:p>
            <a:pPr algn="ctr"/>
            <a:r>
              <a:rPr sz="1800" b="1">
                <a:solidFill>
                  <a:srgbClr val="06D6A0"/>
                </a:solidFill>
                <a:latin typeface="Calibri"/>
              </a:rPr>
              <a:t>→</a:t>
            </a:r>
          </a:p>
        </p:txBody>
      </p:sp>
      <p:sp>
        <p:nvSpPr>
          <p:cNvPr id="26" name="Rectangle 25"/>
          <p:cNvSpPr/>
          <p:nvPr/>
        </p:nvSpPr>
        <p:spPr>
          <a:xfrm>
            <a:off x="9235440" y="1444752"/>
            <a:ext cx="2468880" cy="256032"/>
          </a:xfrm>
          <a:prstGeom prst="rect">
            <a:avLst/>
          </a:prstGeom>
          <a:solidFill>
            <a:srgbClr val="E6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1453895"/>
            <a:ext cx="640080" cy="219456"/>
          </a:xfrm>
          <a:prstGeom prst="rect">
            <a:avLst/>
          </a:prstGeom>
          <a:noFill/>
        </p:spPr>
        <p:txBody>
          <a:bodyPr wrap="square">
            <a:spAutoFit/>
          </a:bodyPr>
          <a:lstStyle/>
          <a:p>
            <a:pPr algn="l"/>
            <a:r>
              <a:rPr sz="700" b="1">
                <a:solidFill>
                  <a:srgbClr val="06D6A0"/>
                </a:solidFill>
                <a:latin typeface="Calibri"/>
              </a:rPr>
              <a:t>AFTER</a:t>
            </a:r>
          </a:p>
        </p:txBody>
      </p:sp>
      <p:sp>
        <p:nvSpPr>
          <p:cNvPr id="28" name="TextBox 27"/>
          <p:cNvSpPr txBox="1"/>
          <p:nvPr/>
        </p:nvSpPr>
        <p:spPr>
          <a:xfrm>
            <a:off x="9235440" y="1737360"/>
            <a:ext cx="2468880" cy="777240"/>
          </a:xfrm>
          <a:prstGeom prst="rect">
            <a:avLst/>
          </a:prstGeom>
          <a:noFill/>
        </p:spPr>
        <p:txBody>
          <a:bodyPr wrap="square">
            <a:spAutoFit/>
          </a:bodyPr>
          <a:lstStyle/>
          <a:p>
            <a:pPr algn="l"/>
            <a:r>
              <a:rPr sz="900" b="0">
                <a:solidFill>
                  <a:srgbClr val="4A4A5A"/>
                </a:solidFill>
                <a:latin typeface="Calibri"/>
              </a:rPr>
              <a:t>Live score panel beside textarea. Updates as user types. Always visible at eye level.</a:t>
            </a:r>
          </a:p>
        </p:txBody>
      </p:sp>
      <p:sp>
        <p:nvSpPr>
          <p:cNvPr id="29" name="Rectangle 28"/>
          <p:cNvSpPr/>
          <p:nvPr/>
        </p:nvSpPr>
        <p:spPr>
          <a:xfrm>
            <a:off x="365760" y="2834640"/>
            <a:ext cx="5577840" cy="1755648"/>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2834640"/>
            <a:ext cx="5577840" cy="43891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907792"/>
            <a:ext cx="4114800" cy="329184"/>
          </a:xfrm>
          <a:prstGeom prst="rect">
            <a:avLst/>
          </a:prstGeom>
          <a:noFill/>
        </p:spPr>
        <p:txBody>
          <a:bodyPr wrap="square">
            <a:spAutoFit/>
          </a:bodyPr>
          <a:lstStyle/>
          <a:p>
            <a:pPr algn="l"/>
            <a:r>
              <a:rPr sz="1200" b="1">
                <a:solidFill>
                  <a:srgbClr val="FFFFFF"/>
                </a:solidFill>
                <a:latin typeface="Calibri"/>
              </a:rPr>
              <a:t>AI Score (Admin)</a:t>
            </a:r>
          </a:p>
        </p:txBody>
      </p:sp>
      <p:sp>
        <p:nvSpPr>
          <p:cNvPr id="32" name="Rounded Rectangle 31"/>
          <p:cNvSpPr/>
          <p:nvPr/>
        </p:nvSpPr>
        <p:spPr>
          <a:xfrm>
            <a:off x="4754880" y="2926080"/>
            <a:ext cx="105156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2944368"/>
            <a:ext cx="960119" cy="228600"/>
          </a:xfrm>
          <a:prstGeom prst="rect">
            <a:avLst/>
          </a:prstGeom>
          <a:noFill/>
        </p:spPr>
        <p:txBody>
          <a:bodyPr wrap="square">
            <a:spAutoFit/>
          </a:bodyPr>
          <a:lstStyle/>
          <a:p>
            <a:pPr algn="ctr"/>
            <a:r>
              <a:rPr sz="800" b="1">
                <a:solidFill>
                  <a:srgbClr val="FF6B6B"/>
                </a:solidFill>
                <a:latin typeface="Calibri"/>
              </a:rPr>
              <a:t>Admin Arena</a:t>
            </a:r>
          </a:p>
        </p:txBody>
      </p:sp>
      <p:sp>
        <p:nvSpPr>
          <p:cNvPr id="34" name="Rectangle 33"/>
          <p:cNvSpPr/>
          <p:nvPr/>
        </p:nvSpPr>
        <p:spPr>
          <a:xfrm>
            <a:off x="475488" y="3364992"/>
            <a:ext cx="2468880" cy="256032"/>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 y="3374136"/>
            <a:ext cx="685800" cy="219456"/>
          </a:xfrm>
          <a:prstGeom prst="rect">
            <a:avLst/>
          </a:prstGeom>
          <a:noFill/>
        </p:spPr>
        <p:txBody>
          <a:bodyPr wrap="square">
            <a:spAutoFit/>
          </a:bodyPr>
          <a:lstStyle/>
          <a:p>
            <a:pPr algn="l"/>
            <a:r>
              <a:rPr sz="700" b="1">
                <a:solidFill>
                  <a:srgbClr val="FF6B6B"/>
                </a:solidFill>
                <a:latin typeface="Calibri"/>
              </a:rPr>
              <a:t>BEFORE</a:t>
            </a:r>
          </a:p>
        </p:txBody>
      </p:sp>
      <p:sp>
        <p:nvSpPr>
          <p:cNvPr id="36" name="TextBox 35"/>
          <p:cNvSpPr txBox="1"/>
          <p:nvPr/>
        </p:nvSpPr>
        <p:spPr>
          <a:xfrm>
            <a:off x="475488" y="3657600"/>
            <a:ext cx="2468880" cy="777240"/>
          </a:xfrm>
          <a:prstGeom prst="rect">
            <a:avLst/>
          </a:prstGeom>
          <a:noFill/>
        </p:spPr>
        <p:txBody>
          <a:bodyPr wrap="square">
            <a:spAutoFit/>
          </a:bodyPr>
          <a:lstStyle/>
          <a:p>
            <a:pPr algn="l"/>
            <a:r>
              <a:rPr sz="900" b="0">
                <a:solidFill>
                  <a:srgbClr val="4A4A5A"/>
                </a:solidFill>
                <a:latin typeface="Calibri"/>
              </a:rPr>
              <a:t>Small badge, top-right. Skipped by F-pattern entirely.</a:t>
            </a:r>
          </a:p>
        </p:txBody>
      </p:sp>
      <p:sp>
        <p:nvSpPr>
          <p:cNvPr id="37" name="TextBox 36"/>
          <p:cNvSpPr txBox="1"/>
          <p:nvPr/>
        </p:nvSpPr>
        <p:spPr>
          <a:xfrm>
            <a:off x="3017520" y="3547872"/>
            <a:ext cx="365760" cy="457200"/>
          </a:xfrm>
          <a:prstGeom prst="rect">
            <a:avLst/>
          </a:prstGeom>
          <a:noFill/>
        </p:spPr>
        <p:txBody>
          <a:bodyPr wrap="square">
            <a:spAutoFit/>
          </a:bodyPr>
          <a:lstStyle/>
          <a:p>
            <a:pPr algn="ctr"/>
            <a:r>
              <a:rPr sz="1800" b="1">
                <a:solidFill>
                  <a:srgbClr val="FF6B6B"/>
                </a:solidFill>
                <a:latin typeface="Calibri"/>
              </a:rPr>
              <a:t>→</a:t>
            </a:r>
          </a:p>
        </p:txBody>
      </p:sp>
      <p:sp>
        <p:nvSpPr>
          <p:cNvPr id="38" name="Rectangle 37"/>
          <p:cNvSpPr/>
          <p:nvPr/>
        </p:nvSpPr>
        <p:spPr>
          <a:xfrm>
            <a:off x="3291840" y="3364992"/>
            <a:ext cx="2468880" cy="256032"/>
          </a:xfrm>
          <a:prstGeom prst="rect">
            <a:avLst/>
          </a:prstGeom>
          <a:solidFill>
            <a:srgbClr val="E6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91840" y="3374136"/>
            <a:ext cx="640080" cy="219456"/>
          </a:xfrm>
          <a:prstGeom prst="rect">
            <a:avLst/>
          </a:prstGeom>
          <a:noFill/>
        </p:spPr>
        <p:txBody>
          <a:bodyPr wrap="square">
            <a:spAutoFit/>
          </a:bodyPr>
          <a:lstStyle/>
          <a:p>
            <a:pPr algn="l"/>
            <a:r>
              <a:rPr sz="700" b="1">
                <a:solidFill>
                  <a:srgbClr val="06D6A0"/>
                </a:solidFill>
                <a:latin typeface="Calibri"/>
              </a:rPr>
              <a:t>AFTER</a:t>
            </a:r>
          </a:p>
        </p:txBody>
      </p:sp>
      <p:sp>
        <p:nvSpPr>
          <p:cNvPr id="40" name="TextBox 39"/>
          <p:cNvSpPr txBox="1"/>
          <p:nvPr/>
        </p:nvSpPr>
        <p:spPr>
          <a:xfrm>
            <a:off x="3291840" y="3657600"/>
            <a:ext cx="2468880" cy="777240"/>
          </a:xfrm>
          <a:prstGeom prst="rect">
            <a:avLst/>
          </a:prstGeom>
          <a:noFill/>
        </p:spPr>
        <p:txBody>
          <a:bodyPr wrap="square">
            <a:spAutoFit/>
          </a:bodyPr>
          <a:lstStyle/>
          <a:p>
            <a:pPr algn="l"/>
            <a:r>
              <a:rPr sz="900" b="0">
                <a:solidFill>
                  <a:srgbClr val="4A4A5A"/>
                </a:solidFill>
                <a:latin typeface="Calibri"/>
              </a:rPr>
              <a:t>Large number left-aligned under student name. In primary F-pattern scan zone.</a:t>
            </a:r>
          </a:p>
        </p:txBody>
      </p:sp>
      <p:sp>
        <p:nvSpPr>
          <p:cNvPr id="41" name="Rectangle 40"/>
          <p:cNvSpPr/>
          <p:nvPr/>
        </p:nvSpPr>
        <p:spPr>
          <a:xfrm>
            <a:off x="6309360" y="2834640"/>
            <a:ext cx="5577840" cy="1755648"/>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2834640"/>
            <a:ext cx="5577840"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2907792"/>
            <a:ext cx="4114800" cy="329184"/>
          </a:xfrm>
          <a:prstGeom prst="rect">
            <a:avLst/>
          </a:prstGeom>
          <a:noFill/>
        </p:spPr>
        <p:txBody>
          <a:bodyPr wrap="square">
            <a:spAutoFit/>
          </a:bodyPr>
          <a:lstStyle/>
          <a:p>
            <a:pPr algn="l"/>
            <a:r>
              <a:rPr sz="1200" b="1">
                <a:solidFill>
                  <a:srgbClr val="FFFFFF"/>
                </a:solidFill>
                <a:latin typeface="Calibri"/>
              </a:rPr>
              <a:t>Skill Gap Analysis</a:t>
            </a:r>
          </a:p>
        </p:txBody>
      </p:sp>
      <p:sp>
        <p:nvSpPr>
          <p:cNvPr id="44" name="Rounded Rectangle 43"/>
          <p:cNvSpPr/>
          <p:nvPr/>
        </p:nvSpPr>
        <p:spPr>
          <a:xfrm>
            <a:off x="10698480" y="2926080"/>
            <a:ext cx="105156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44200" y="2944368"/>
            <a:ext cx="960119" cy="228600"/>
          </a:xfrm>
          <a:prstGeom prst="rect">
            <a:avLst/>
          </a:prstGeom>
          <a:noFill/>
        </p:spPr>
        <p:txBody>
          <a:bodyPr wrap="square">
            <a:spAutoFit/>
          </a:bodyPr>
          <a:lstStyle/>
          <a:p>
            <a:pPr algn="ctr"/>
            <a:r>
              <a:rPr sz="800" b="1">
                <a:solidFill>
                  <a:srgbClr val="7C3AED"/>
                </a:solidFill>
                <a:latin typeface="Calibri"/>
              </a:rPr>
              <a:t>Skills Page</a:t>
            </a:r>
          </a:p>
        </p:txBody>
      </p:sp>
      <p:sp>
        <p:nvSpPr>
          <p:cNvPr id="46" name="Rectangle 45"/>
          <p:cNvSpPr/>
          <p:nvPr/>
        </p:nvSpPr>
        <p:spPr>
          <a:xfrm>
            <a:off x="6419088" y="3364992"/>
            <a:ext cx="2468880" cy="256032"/>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19088" y="3374136"/>
            <a:ext cx="685800" cy="219456"/>
          </a:xfrm>
          <a:prstGeom prst="rect">
            <a:avLst/>
          </a:prstGeom>
          <a:noFill/>
        </p:spPr>
        <p:txBody>
          <a:bodyPr wrap="square">
            <a:spAutoFit/>
          </a:bodyPr>
          <a:lstStyle/>
          <a:p>
            <a:pPr algn="l"/>
            <a:r>
              <a:rPr sz="700" b="1">
                <a:solidFill>
                  <a:srgbClr val="FF6B6B"/>
                </a:solidFill>
                <a:latin typeface="Calibri"/>
              </a:rPr>
              <a:t>BEFORE</a:t>
            </a:r>
          </a:p>
        </p:txBody>
      </p:sp>
      <p:sp>
        <p:nvSpPr>
          <p:cNvPr id="48" name="TextBox 47"/>
          <p:cNvSpPr txBox="1"/>
          <p:nvPr/>
        </p:nvSpPr>
        <p:spPr>
          <a:xfrm>
            <a:off x="6419088" y="3657600"/>
            <a:ext cx="2468880" cy="777240"/>
          </a:xfrm>
          <a:prstGeom prst="rect">
            <a:avLst/>
          </a:prstGeom>
          <a:noFill/>
        </p:spPr>
        <p:txBody>
          <a:bodyPr wrap="square">
            <a:spAutoFit/>
          </a:bodyPr>
          <a:lstStyle/>
          <a:p>
            <a:pPr algn="l"/>
            <a:r>
              <a:rPr sz="900" b="0">
                <a:solidFill>
                  <a:srgbClr val="4A4A5A"/>
                </a:solidFill>
                <a:latin typeface="Calibri"/>
              </a:rPr>
              <a:t>Below skill list, below fold. Near-zero fixation. Feature effectively invisible.</a:t>
            </a:r>
          </a:p>
        </p:txBody>
      </p:sp>
      <p:sp>
        <p:nvSpPr>
          <p:cNvPr id="49" name="TextBox 48"/>
          <p:cNvSpPr txBox="1"/>
          <p:nvPr/>
        </p:nvSpPr>
        <p:spPr>
          <a:xfrm>
            <a:off x="8961120" y="3547872"/>
            <a:ext cx="365760" cy="457200"/>
          </a:xfrm>
          <a:prstGeom prst="rect">
            <a:avLst/>
          </a:prstGeom>
          <a:noFill/>
        </p:spPr>
        <p:txBody>
          <a:bodyPr wrap="square">
            <a:spAutoFit/>
          </a:bodyPr>
          <a:lstStyle/>
          <a:p>
            <a:pPr algn="ctr"/>
            <a:r>
              <a:rPr sz="1800" b="1">
                <a:solidFill>
                  <a:srgbClr val="7C3AED"/>
                </a:solidFill>
                <a:latin typeface="Calibri"/>
              </a:rPr>
              <a:t>→</a:t>
            </a:r>
          </a:p>
        </p:txBody>
      </p:sp>
      <p:sp>
        <p:nvSpPr>
          <p:cNvPr id="50" name="Rectangle 49"/>
          <p:cNvSpPr/>
          <p:nvPr/>
        </p:nvSpPr>
        <p:spPr>
          <a:xfrm>
            <a:off x="9235440" y="3364992"/>
            <a:ext cx="2468880" cy="256032"/>
          </a:xfrm>
          <a:prstGeom prst="rect">
            <a:avLst/>
          </a:prstGeom>
          <a:solidFill>
            <a:srgbClr val="E6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35440" y="3374136"/>
            <a:ext cx="640080" cy="219456"/>
          </a:xfrm>
          <a:prstGeom prst="rect">
            <a:avLst/>
          </a:prstGeom>
          <a:noFill/>
        </p:spPr>
        <p:txBody>
          <a:bodyPr wrap="square">
            <a:spAutoFit/>
          </a:bodyPr>
          <a:lstStyle/>
          <a:p>
            <a:pPr algn="l"/>
            <a:r>
              <a:rPr sz="700" b="1">
                <a:solidFill>
                  <a:srgbClr val="06D6A0"/>
                </a:solidFill>
                <a:latin typeface="Calibri"/>
              </a:rPr>
              <a:t>AFTER</a:t>
            </a:r>
          </a:p>
        </p:txBody>
      </p:sp>
      <p:sp>
        <p:nvSpPr>
          <p:cNvPr id="52" name="TextBox 51"/>
          <p:cNvSpPr txBox="1"/>
          <p:nvPr/>
        </p:nvSpPr>
        <p:spPr>
          <a:xfrm>
            <a:off x="9235440" y="3657600"/>
            <a:ext cx="2468880" cy="777240"/>
          </a:xfrm>
          <a:prstGeom prst="rect">
            <a:avLst/>
          </a:prstGeom>
          <a:noFill/>
        </p:spPr>
        <p:txBody>
          <a:bodyPr wrap="square">
            <a:spAutoFit/>
          </a:bodyPr>
          <a:lstStyle/>
          <a:p>
            <a:pPr algn="l"/>
            <a:r>
              <a:rPr sz="900" b="0">
                <a:solidFill>
                  <a:srgbClr val="4A4A5A"/>
                </a:solidFill>
                <a:latin typeface="Calibri"/>
              </a:rPr>
              <a:t>Moved to top of page in highlighted card. 'Skills needed for challenges' heading drives attention.</a:t>
            </a:r>
          </a:p>
        </p:txBody>
      </p:sp>
      <p:sp>
        <p:nvSpPr>
          <p:cNvPr id="53" name="Rectangle 52"/>
          <p:cNvSpPr/>
          <p:nvPr/>
        </p:nvSpPr>
        <p:spPr>
          <a:xfrm>
            <a:off x="365760" y="4754880"/>
            <a:ext cx="5577840" cy="1755648"/>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5760" y="4754880"/>
            <a:ext cx="5577840" cy="438912"/>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828032"/>
            <a:ext cx="4114800" cy="329184"/>
          </a:xfrm>
          <a:prstGeom prst="rect">
            <a:avLst/>
          </a:prstGeom>
          <a:noFill/>
        </p:spPr>
        <p:txBody>
          <a:bodyPr wrap="square">
            <a:spAutoFit/>
          </a:bodyPr>
          <a:lstStyle/>
          <a:p>
            <a:pPr algn="l"/>
            <a:r>
              <a:rPr sz="1200" b="1">
                <a:solidFill>
                  <a:srgbClr val="FFFFFF"/>
                </a:solidFill>
                <a:latin typeface="Calibri"/>
              </a:rPr>
              <a:t>Approve Workflow</a:t>
            </a:r>
          </a:p>
        </p:txBody>
      </p:sp>
      <p:sp>
        <p:nvSpPr>
          <p:cNvPr id="56" name="Rounded Rectangle 55"/>
          <p:cNvSpPr/>
          <p:nvPr/>
        </p:nvSpPr>
        <p:spPr>
          <a:xfrm>
            <a:off x="4754880" y="4846320"/>
            <a:ext cx="105156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00600" y="4864607"/>
            <a:ext cx="960119" cy="228600"/>
          </a:xfrm>
          <a:prstGeom prst="rect">
            <a:avLst/>
          </a:prstGeom>
          <a:noFill/>
        </p:spPr>
        <p:txBody>
          <a:bodyPr wrap="square">
            <a:spAutoFit/>
          </a:bodyPr>
          <a:lstStyle/>
          <a:p>
            <a:pPr algn="ctr"/>
            <a:r>
              <a:rPr sz="800" b="1">
                <a:solidFill>
                  <a:srgbClr val="FFB703"/>
                </a:solidFill>
                <a:latin typeface="Calibri"/>
              </a:rPr>
              <a:t>Admin Arena</a:t>
            </a:r>
          </a:p>
        </p:txBody>
      </p:sp>
      <p:sp>
        <p:nvSpPr>
          <p:cNvPr id="58" name="Rectangle 57"/>
          <p:cNvSpPr/>
          <p:nvPr/>
        </p:nvSpPr>
        <p:spPr>
          <a:xfrm>
            <a:off x="475488" y="5285232"/>
            <a:ext cx="2468880" cy="256032"/>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5488" y="5294376"/>
            <a:ext cx="685800" cy="219456"/>
          </a:xfrm>
          <a:prstGeom prst="rect">
            <a:avLst/>
          </a:prstGeom>
          <a:noFill/>
        </p:spPr>
        <p:txBody>
          <a:bodyPr wrap="square">
            <a:spAutoFit/>
          </a:bodyPr>
          <a:lstStyle/>
          <a:p>
            <a:pPr algn="l"/>
            <a:r>
              <a:rPr sz="700" b="1">
                <a:solidFill>
                  <a:srgbClr val="FF6B6B"/>
                </a:solidFill>
                <a:latin typeface="Calibri"/>
              </a:rPr>
              <a:t>BEFORE</a:t>
            </a:r>
          </a:p>
        </p:txBody>
      </p:sp>
      <p:sp>
        <p:nvSpPr>
          <p:cNvPr id="60" name="TextBox 59"/>
          <p:cNvSpPr txBox="1"/>
          <p:nvPr/>
        </p:nvSpPr>
        <p:spPr>
          <a:xfrm>
            <a:off x="475488" y="5577840"/>
            <a:ext cx="2468880" cy="777240"/>
          </a:xfrm>
          <a:prstGeom prst="rect">
            <a:avLst/>
          </a:prstGeom>
          <a:noFill/>
        </p:spPr>
        <p:txBody>
          <a:bodyPr wrap="square">
            <a:spAutoFit/>
          </a:bodyPr>
          <a:lstStyle/>
          <a:p>
            <a:pPr algn="l"/>
            <a:r>
              <a:rPr sz="900" b="0">
                <a:solidFill>
                  <a:srgbClr val="4A4A5A"/>
                </a:solidFill>
                <a:latin typeface="Calibri"/>
              </a:rPr>
              <a:t>Approve button fixated before proposal content is read. Risk of unconsidered approval.</a:t>
            </a:r>
          </a:p>
        </p:txBody>
      </p:sp>
      <p:sp>
        <p:nvSpPr>
          <p:cNvPr id="61" name="TextBox 60"/>
          <p:cNvSpPr txBox="1"/>
          <p:nvPr/>
        </p:nvSpPr>
        <p:spPr>
          <a:xfrm>
            <a:off x="3017520" y="5468112"/>
            <a:ext cx="365760" cy="457200"/>
          </a:xfrm>
          <a:prstGeom prst="rect">
            <a:avLst/>
          </a:prstGeom>
          <a:noFill/>
        </p:spPr>
        <p:txBody>
          <a:bodyPr wrap="square">
            <a:spAutoFit/>
          </a:bodyPr>
          <a:lstStyle/>
          <a:p>
            <a:pPr algn="ctr"/>
            <a:r>
              <a:rPr sz="1800" b="1">
                <a:solidFill>
                  <a:srgbClr val="FFB703"/>
                </a:solidFill>
                <a:latin typeface="Calibri"/>
              </a:rPr>
              <a:t>→</a:t>
            </a:r>
          </a:p>
        </p:txBody>
      </p:sp>
      <p:sp>
        <p:nvSpPr>
          <p:cNvPr id="62" name="Rectangle 61"/>
          <p:cNvSpPr/>
          <p:nvPr/>
        </p:nvSpPr>
        <p:spPr>
          <a:xfrm>
            <a:off x="3291840" y="5285232"/>
            <a:ext cx="2468880" cy="256032"/>
          </a:xfrm>
          <a:prstGeom prst="rect">
            <a:avLst/>
          </a:prstGeom>
          <a:solidFill>
            <a:srgbClr val="E6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91840" y="5294376"/>
            <a:ext cx="640080" cy="219456"/>
          </a:xfrm>
          <a:prstGeom prst="rect">
            <a:avLst/>
          </a:prstGeom>
          <a:noFill/>
        </p:spPr>
        <p:txBody>
          <a:bodyPr wrap="square">
            <a:spAutoFit/>
          </a:bodyPr>
          <a:lstStyle/>
          <a:p>
            <a:pPr algn="l"/>
            <a:r>
              <a:rPr sz="700" b="1">
                <a:solidFill>
                  <a:srgbClr val="06D6A0"/>
                </a:solidFill>
                <a:latin typeface="Calibri"/>
              </a:rPr>
              <a:t>AFTER</a:t>
            </a:r>
          </a:p>
        </p:txBody>
      </p:sp>
      <p:sp>
        <p:nvSpPr>
          <p:cNvPr id="64" name="TextBox 63"/>
          <p:cNvSpPr txBox="1"/>
          <p:nvPr/>
        </p:nvSpPr>
        <p:spPr>
          <a:xfrm>
            <a:off x="3291840" y="5577840"/>
            <a:ext cx="2468880" cy="777240"/>
          </a:xfrm>
          <a:prstGeom prst="rect">
            <a:avLst/>
          </a:prstGeom>
          <a:noFill/>
        </p:spPr>
        <p:txBody>
          <a:bodyPr wrap="square">
            <a:spAutoFit/>
          </a:bodyPr>
          <a:lstStyle/>
          <a:p>
            <a:pPr algn="l"/>
            <a:r>
              <a:rPr sz="900" b="0">
                <a:solidFill>
                  <a:srgbClr val="4A4A5A"/>
                </a:solidFill>
                <a:latin typeface="Calibri"/>
              </a:rPr>
              <a:t>Sequential reveal: admin reads proposal, then Approve button appears. Controls scan path.</a:t>
            </a:r>
          </a:p>
        </p:txBody>
      </p:sp>
      <p:sp>
        <p:nvSpPr>
          <p:cNvPr id="65" name="Rectangle 64"/>
          <p:cNvSpPr/>
          <p:nvPr/>
        </p:nvSpPr>
        <p:spPr>
          <a:xfrm>
            <a:off x="6309360" y="4754880"/>
            <a:ext cx="5577840" cy="1755648"/>
          </a:xfrm>
          <a:prstGeom prst="rect">
            <a:avLst/>
          </a:prstGeom>
          <a:solidFill>
            <a:srgbClr val="FFFFFF"/>
          </a:solidFill>
          <a:ln w="12700">
            <a:solidFill>
              <a:srgbClr val="EEF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309360" y="4754880"/>
            <a:ext cx="5577840" cy="43891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46520" y="4828032"/>
            <a:ext cx="4114800" cy="329184"/>
          </a:xfrm>
          <a:prstGeom prst="rect">
            <a:avLst/>
          </a:prstGeom>
          <a:noFill/>
        </p:spPr>
        <p:txBody>
          <a:bodyPr wrap="square">
            <a:spAutoFit/>
          </a:bodyPr>
          <a:lstStyle/>
          <a:p>
            <a:pPr algn="l"/>
            <a:r>
              <a:rPr sz="1200" b="1">
                <a:solidFill>
                  <a:srgbClr val="FFFFFF"/>
                </a:solidFill>
                <a:latin typeface="Calibri"/>
              </a:rPr>
              <a:t>Completeness Bar</a:t>
            </a:r>
          </a:p>
        </p:txBody>
      </p:sp>
      <p:sp>
        <p:nvSpPr>
          <p:cNvPr id="68" name="Rounded Rectangle 67"/>
          <p:cNvSpPr/>
          <p:nvPr/>
        </p:nvSpPr>
        <p:spPr>
          <a:xfrm>
            <a:off x="10698480" y="4846320"/>
            <a:ext cx="105156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744200" y="4864607"/>
            <a:ext cx="960119" cy="228600"/>
          </a:xfrm>
          <a:prstGeom prst="rect">
            <a:avLst/>
          </a:prstGeom>
          <a:noFill/>
        </p:spPr>
        <p:txBody>
          <a:bodyPr wrap="square">
            <a:spAutoFit/>
          </a:bodyPr>
          <a:lstStyle/>
          <a:p>
            <a:pPr algn="ctr"/>
            <a:r>
              <a:rPr sz="800" b="1">
                <a:solidFill>
                  <a:srgbClr val="00B4D8"/>
                </a:solidFill>
                <a:latin typeface="Calibri"/>
              </a:rPr>
              <a:t>Skills Page</a:t>
            </a:r>
          </a:p>
        </p:txBody>
      </p:sp>
      <p:sp>
        <p:nvSpPr>
          <p:cNvPr id="70" name="Rectangle 69"/>
          <p:cNvSpPr/>
          <p:nvPr/>
        </p:nvSpPr>
        <p:spPr>
          <a:xfrm>
            <a:off x="6419088" y="5285232"/>
            <a:ext cx="2468880" cy="256032"/>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19088" y="5294376"/>
            <a:ext cx="685800" cy="219456"/>
          </a:xfrm>
          <a:prstGeom prst="rect">
            <a:avLst/>
          </a:prstGeom>
          <a:noFill/>
        </p:spPr>
        <p:txBody>
          <a:bodyPr wrap="square">
            <a:spAutoFit/>
          </a:bodyPr>
          <a:lstStyle/>
          <a:p>
            <a:pPr algn="l"/>
            <a:r>
              <a:rPr sz="700" b="1">
                <a:solidFill>
                  <a:srgbClr val="FF6B6B"/>
                </a:solidFill>
                <a:latin typeface="Calibri"/>
              </a:rPr>
              <a:t>BEFORE</a:t>
            </a:r>
          </a:p>
        </p:txBody>
      </p:sp>
      <p:sp>
        <p:nvSpPr>
          <p:cNvPr id="72" name="TextBox 71"/>
          <p:cNvSpPr txBox="1"/>
          <p:nvPr/>
        </p:nvSpPr>
        <p:spPr>
          <a:xfrm>
            <a:off x="6419088" y="5577840"/>
            <a:ext cx="2468880" cy="777240"/>
          </a:xfrm>
          <a:prstGeom prst="rect">
            <a:avLst/>
          </a:prstGeom>
          <a:noFill/>
        </p:spPr>
        <p:txBody>
          <a:bodyPr wrap="square">
            <a:spAutoFit/>
          </a:bodyPr>
          <a:lstStyle/>
          <a:p>
            <a:pPr algn="l"/>
            <a:r>
              <a:rPr sz="900" b="0">
                <a:solidFill>
                  <a:srgbClr val="4A4A5A"/>
                </a:solidFill>
                <a:latin typeface="Calibri"/>
              </a:rPr>
              <a:t>Thin horizontal strip, low contrast. Zero predicted fixations.</a:t>
            </a:r>
          </a:p>
        </p:txBody>
      </p:sp>
      <p:sp>
        <p:nvSpPr>
          <p:cNvPr id="73" name="TextBox 72"/>
          <p:cNvSpPr txBox="1"/>
          <p:nvPr/>
        </p:nvSpPr>
        <p:spPr>
          <a:xfrm>
            <a:off x="8961120" y="5468112"/>
            <a:ext cx="365760" cy="457200"/>
          </a:xfrm>
          <a:prstGeom prst="rect">
            <a:avLst/>
          </a:prstGeom>
          <a:noFill/>
        </p:spPr>
        <p:txBody>
          <a:bodyPr wrap="square">
            <a:spAutoFit/>
          </a:bodyPr>
          <a:lstStyle/>
          <a:p>
            <a:pPr algn="ctr"/>
            <a:r>
              <a:rPr sz="1800" b="1">
                <a:solidFill>
                  <a:srgbClr val="00B4D8"/>
                </a:solidFill>
                <a:latin typeface="Calibri"/>
              </a:rPr>
              <a:t>→</a:t>
            </a:r>
          </a:p>
        </p:txBody>
      </p:sp>
      <p:sp>
        <p:nvSpPr>
          <p:cNvPr id="74" name="Rectangle 73"/>
          <p:cNvSpPr/>
          <p:nvPr/>
        </p:nvSpPr>
        <p:spPr>
          <a:xfrm>
            <a:off x="9235440" y="5285232"/>
            <a:ext cx="2468880" cy="256032"/>
          </a:xfrm>
          <a:prstGeom prst="rect">
            <a:avLst/>
          </a:prstGeom>
          <a:solidFill>
            <a:srgbClr val="E6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235440" y="5294376"/>
            <a:ext cx="640080" cy="219456"/>
          </a:xfrm>
          <a:prstGeom prst="rect">
            <a:avLst/>
          </a:prstGeom>
          <a:noFill/>
        </p:spPr>
        <p:txBody>
          <a:bodyPr wrap="square">
            <a:spAutoFit/>
          </a:bodyPr>
          <a:lstStyle/>
          <a:p>
            <a:pPr algn="l"/>
            <a:r>
              <a:rPr sz="700" b="1">
                <a:solidFill>
                  <a:srgbClr val="06D6A0"/>
                </a:solidFill>
                <a:latin typeface="Calibri"/>
              </a:rPr>
              <a:t>AFTER</a:t>
            </a:r>
          </a:p>
        </p:txBody>
      </p:sp>
      <p:sp>
        <p:nvSpPr>
          <p:cNvPr id="76" name="TextBox 75"/>
          <p:cNvSpPr txBox="1"/>
          <p:nvPr/>
        </p:nvSpPr>
        <p:spPr>
          <a:xfrm>
            <a:off x="9235440" y="5577840"/>
            <a:ext cx="2468880" cy="777240"/>
          </a:xfrm>
          <a:prstGeom prst="rect">
            <a:avLst/>
          </a:prstGeom>
          <a:noFill/>
        </p:spPr>
        <p:txBody>
          <a:bodyPr wrap="square">
            <a:spAutoFit/>
          </a:bodyPr>
          <a:lstStyle/>
          <a:p>
            <a:pPr algn="l"/>
            <a:r>
              <a:rPr sz="900" b="0">
                <a:solidFill>
                  <a:srgbClr val="4A4A5A"/>
                </a:solidFill>
                <a:latin typeface="Calibri"/>
              </a:rPr>
              <a:t>Large circular progress ring, top-right position, with percentage and colour coding.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0"/>
          </a:xfrm>
          <a:prstGeom prst="rect">
            <a:avLst/>
          </a:prstGeom>
          <a:solidFill>
            <a:srgbClr val="0A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02920"/>
          </a:xfrm>
          <a:prstGeom prst="rect">
            <a:avLst/>
          </a:prstGeom>
          <a:noFill/>
        </p:spPr>
        <p:txBody>
          <a:bodyPr wrap="square">
            <a:spAutoFit/>
          </a:bodyPr>
          <a:lstStyle/>
          <a:p>
            <a:pPr algn="l"/>
            <a:r>
              <a:rPr sz="2000" b="1">
                <a:solidFill>
                  <a:srgbClr val="FFFFFF"/>
                </a:solidFill>
                <a:latin typeface="Calibri"/>
              </a:rPr>
              <a:t>REFLECTION</a:t>
            </a:r>
          </a:p>
        </p:txBody>
      </p:sp>
      <p:sp>
        <p:nvSpPr>
          <p:cNvPr id="5" name="Rectangle 4"/>
          <p:cNvSpPr/>
          <p:nvPr/>
        </p:nvSpPr>
        <p:spPr>
          <a:xfrm>
            <a:off x="457200" y="914400"/>
            <a:ext cx="5486400" cy="2633472"/>
          </a:xfrm>
          <a:prstGeom prst="rect">
            <a:avLst/>
          </a:prstGeom>
          <a:solidFill>
            <a:srgbClr val="E8F4FD"/>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73152" cy="263347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0080" y="105156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97280"/>
            <a:ext cx="502920" cy="411480"/>
          </a:xfrm>
          <a:prstGeom prst="rect">
            <a:avLst/>
          </a:prstGeom>
          <a:noFill/>
        </p:spPr>
        <p:txBody>
          <a:bodyPr wrap="square">
            <a:spAutoFit/>
          </a:bodyPr>
          <a:lstStyle/>
          <a:p>
            <a:pPr algn="ctr"/>
            <a:r>
              <a:rPr sz="1800" b="1">
                <a:solidFill>
                  <a:srgbClr val="FFFFFF"/>
                </a:solidFill>
                <a:latin typeface="Calibri"/>
              </a:rPr>
              <a:t>1</a:t>
            </a:r>
          </a:p>
        </p:txBody>
      </p:sp>
      <p:sp>
        <p:nvSpPr>
          <p:cNvPr id="9" name="TextBox 8"/>
          <p:cNvSpPr txBox="1"/>
          <p:nvPr/>
        </p:nvSpPr>
        <p:spPr>
          <a:xfrm>
            <a:off x="1325880" y="1051560"/>
            <a:ext cx="4389120" cy="411480"/>
          </a:xfrm>
          <a:prstGeom prst="rect">
            <a:avLst/>
          </a:prstGeom>
          <a:noFill/>
        </p:spPr>
        <p:txBody>
          <a:bodyPr wrap="square">
            <a:spAutoFit/>
          </a:bodyPr>
          <a:lstStyle/>
          <a:p>
            <a:pPr algn="l"/>
            <a:r>
              <a:rPr sz="1300" b="1">
                <a:solidFill>
                  <a:srgbClr val="00B4D8"/>
                </a:solidFill>
                <a:latin typeface="Calibri"/>
              </a:rPr>
              <a:t>What Eye-Tracking Revealed</a:t>
            </a:r>
          </a:p>
        </p:txBody>
      </p:sp>
      <p:sp>
        <p:nvSpPr>
          <p:cNvPr id="10" name="TextBox 9"/>
          <p:cNvSpPr txBox="1"/>
          <p:nvPr/>
        </p:nvSpPr>
        <p:spPr>
          <a:xfrm>
            <a:off x="713232" y="1572768"/>
            <a:ext cx="5074920" cy="1810512"/>
          </a:xfrm>
          <a:prstGeom prst="rect">
            <a:avLst/>
          </a:prstGeom>
          <a:noFill/>
        </p:spPr>
        <p:txBody>
          <a:bodyPr wrap="square">
            <a:spAutoFit/>
          </a:bodyPr>
          <a:lstStyle/>
          <a:p>
            <a:pPr algn="l"/>
            <a:r>
              <a:rPr sz="1100" b="0">
                <a:solidFill>
                  <a:srgbClr val="4A4A5A"/>
                </a:solidFill>
                <a:latin typeface="Calibri"/>
              </a:rPr>
              <a:t>Before this analysis, CollabX was built with a developer's mental model. Features were implemented — AI Score, template buttons, skill gap analysis — but eye-tracking thinking revealed they exist in code, not in user attention. The most useful features were in the most ignored screen zones.</a:t>
            </a:r>
          </a:p>
        </p:txBody>
      </p:sp>
      <p:sp>
        <p:nvSpPr>
          <p:cNvPr id="11" name="Rectangle 10"/>
          <p:cNvSpPr/>
          <p:nvPr/>
        </p:nvSpPr>
        <p:spPr>
          <a:xfrm>
            <a:off x="6309360" y="914400"/>
            <a:ext cx="5486400" cy="2633472"/>
          </a:xfrm>
          <a:prstGeom prst="rect">
            <a:avLst/>
          </a:prstGeom>
          <a:solidFill>
            <a:srgbClr val="E6FBF4"/>
          </a:solidFill>
          <a:ln w="25400">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914400"/>
            <a:ext cx="73152" cy="263347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1051560"/>
            <a:ext cx="502920" cy="50292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097280"/>
            <a:ext cx="502920" cy="411480"/>
          </a:xfrm>
          <a:prstGeom prst="rect">
            <a:avLst/>
          </a:prstGeom>
          <a:noFill/>
        </p:spPr>
        <p:txBody>
          <a:bodyPr wrap="square">
            <a:spAutoFit/>
          </a:bodyPr>
          <a:lstStyle/>
          <a:p>
            <a:pPr algn="ctr"/>
            <a:r>
              <a:rPr sz="1800" b="1">
                <a:solidFill>
                  <a:srgbClr val="FFFFFF"/>
                </a:solidFill>
                <a:latin typeface="Calibri"/>
              </a:rPr>
              <a:t>2</a:t>
            </a:r>
          </a:p>
        </p:txBody>
      </p:sp>
      <p:sp>
        <p:nvSpPr>
          <p:cNvPr id="15" name="TextBox 14"/>
          <p:cNvSpPr txBox="1"/>
          <p:nvPr/>
        </p:nvSpPr>
        <p:spPr>
          <a:xfrm>
            <a:off x="7178040" y="1051560"/>
            <a:ext cx="4389120" cy="411480"/>
          </a:xfrm>
          <a:prstGeom prst="rect">
            <a:avLst/>
          </a:prstGeom>
          <a:noFill/>
        </p:spPr>
        <p:txBody>
          <a:bodyPr wrap="square">
            <a:spAutoFit/>
          </a:bodyPr>
          <a:lstStyle/>
          <a:p>
            <a:pPr algn="l"/>
            <a:r>
              <a:rPr sz="1300" b="1">
                <a:solidFill>
                  <a:srgbClr val="06D6A0"/>
                </a:solidFill>
                <a:latin typeface="Calibri"/>
              </a:rPr>
              <a:t>What Changed in the Design</a:t>
            </a:r>
          </a:p>
        </p:txBody>
      </p:sp>
      <p:sp>
        <p:nvSpPr>
          <p:cNvPr id="16" name="TextBox 15"/>
          <p:cNvSpPr txBox="1"/>
          <p:nvPr/>
        </p:nvSpPr>
        <p:spPr>
          <a:xfrm>
            <a:off x="6565392" y="1572768"/>
            <a:ext cx="5074920" cy="1810512"/>
          </a:xfrm>
          <a:prstGeom prst="rect">
            <a:avLst/>
          </a:prstGeom>
          <a:noFill/>
        </p:spPr>
        <p:txBody>
          <a:bodyPr wrap="square">
            <a:spAutoFit/>
          </a:bodyPr>
          <a:lstStyle/>
          <a:p>
            <a:pPr algn="l"/>
            <a:r>
              <a:rPr sz="1100" b="0">
                <a:solidFill>
                  <a:srgbClr val="4A4A5A"/>
                </a:solidFill>
                <a:latin typeface="Calibri"/>
              </a:rPr>
              <a:t>6 concrete improvements were identified and implemented based on eye-tracking principles: templates made full-width, AI score repositioned, gap analysis moved to top, admin sequential reveal added, score badge enlarged, completeness bar replaced with circular indicator.</a:t>
            </a:r>
          </a:p>
        </p:txBody>
      </p:sp>
      <p:sp>
        <p:nvSpPr>
          <p:cNvPr id="17" name="Rectangle 16"/>
          <p:cNvSpPr/>
          <p:nvPr/>
        </p:nvSpPr>
        <p:spPr>
          <a:xfrm>
            <a:off x="457200" y="3749039"/>
            <a:ext cx="5486400" cy="2633472"/>
          </a:xfrm>
          <a:prstGeom prst="rect">
            <a:avLst/>
          </a:prstGeom>
          <a:solidFill>
            <a:srgbClr val="FFEEEE"/>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73152" cy="263347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886200"/>
            <a:ext cx="502920" cy="50292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31920"/>
            <a:ext cx="502920" cy="411480"/>
          </a:xfrm>
          <a:prstGeom prst="rect">
            <a:avLst/>
          </a:prstGeom>
          <a:noFill/>
        </p:spPr>
        <p:txBody>
          <a:bodyPr wrap="square">
            <a:spAutoFit/>
          </a:bodyPr>
          <a:lstStyle/>
          <a:p>
            <a:pPr algn="ctr"/>
            <a:r>
              <a:rPr sz="1800" b="1">
                <a:solidFill>
                  <a:srgbClr val="FFFFFF"/>
                </a:solidFill>
                <a:latin typeface="Calibri"/>
              </a:rPr>
              <a:t>3</a:t>
            </a:r>
          </a:p>
        </p:txBody>
      </p:sp>
      <p:sp>
        <p:nvSpPr>
          <p:cNvPr id="21" name="TextBox 20"/>
          <p:cNvSpPr txBox="1"/>
          <p:nvPr/>
        </p:nvSpPr>
        <p:spPr>
          <a:xfrm>
            <a:off x="1325880" y="3886200"/>
            <a:ext cx="4389120" cy="411480"/>
          </a:xfrm>
          <a:prstGeom prst="rect">
            <a:avLst/>
          </a:prstGeom>
          <a:noFill/>
        </p:spPr>
        <p:txBody>
          <a:bodyPr wrap="square">
            <a:spAutoFit/>
          </a:bodyPr>
          <a:lstStyle/>
          <a:p>
            <a:pPr algn="l"/>
            <a:r>
              <a:rPr sz="1300" b="1">
                <a:solidFill>
                  <a:srgbClr val="FF6B6B"/>
                </a:solidFill>
                <a:latin typeface="Calibri"/>
              </a:rPr>
              <a:t>Limitations of Analytical Approach</a:t>
            </a:r>
          </a:p>
        </p:txBody>
      </p:sp>
      <p:sp>
        <p:nvSpPr>
          <p:cNvPr id="22" name="TextBox 21"/>
          <p:cNvSpPr txBox="1"/>
          <p:nvPr/>
        </p:nvSpPr>
        <p:spPr>
          <a:xfrm>
            <a:off x="713232" y="4407407"/>
            <a:ext cx="5074920" cy="1810512"/>
          </a:xfrm>
          <a:prstGeom prst="rect">
            <a:avLst/>
          </a:prstGeom>
          <a:noFill/>
        </p:spPr>
        <p:txBody>
          <a:bodyPr wrap="square">
            <a:spAutoFit/>
          </a:bodyPr>
          <a:lstStyle/>
          <a:p>
            <a:pPr algn="l"/>
            <a:r>
              <a:rPr sz="1100" b="0">
                <a:solidFill>
                  <a:srgbClr val="4A4A5A"/>
                </a:solidFill>
                <a:latin typeface="Calibri"/>
              </a:rPr>
              <a:t>No real fixation data was collected. Individual reading differences are not captured. Emotional responses to colour and motion cannot be predicted analytically. Screen size variations (mobile vs desktop) were not analysed. These predictions are hypotheses, not measurements.</a:t>
            </a:r>
          </a:p>
        </p:txBody>
      </p:sp>
      <p:sp>
        <p:nvSpPr>
          <p:cNvPr id="23" name="Rectangle 22"/>
          <p:cNvSpPr/>
          <p:nvPr/>
        </p:nvSpPr>
        <p:spPr>
          <a:xfrm>
            <a:off x="6309360" y="3749039"/>
            <a:ext cx="5486400" cy="2633472"/>
          </a:xfrm>
          <a:prstGeom prst="rect">
            <a:avLst/>
          </a:prstGeom>
          <a:solidFill>
            <a:srgbClr val="FFF8E1"/>
          </a:solidFill>
          <a:ln w="254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3749039"/>
            <a:ext cx="73152" cy="2633472"/>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92240" y="3886200"/>
            <a:ext cx="502920" cy="502920"/>
          </a:xfrm>
          <a:prstGeom prst="ellipse">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931920"/>
            <a:ext cx="502920" cy="411480"/>
          </a:xfrm>
          <a:prstGeom prst="rect">
            <a:avLst/>
          </a:prstGeom>
          <a:noFill/>
        </p:spPr>
        <p:txBody>
          <a:bodyPr wrap="square">
            <a:spAutoFit/>
          </a:bodyPr>
          <a:lstStyle/>
          <a:p>
            <a:pPr algn="ctr"/>
            <a:r>
              <a:rPr sz="1800" b="1">
                <a:solidFill>
                  <a:srgbClr val="FFFFFF"/>
                </a:solidFill>
                <a:latin typeface="Calibri"/>
              </a:rPr>
              <a:t>4</a:t>
            </a:r>
          </a:p>
        </p:txBody>
      </p:sp>
      <p:sp>
        <p:nvSpPr>
          <p:cNvPr id="27" name="TextBox 26"/>
          <p:cNvSpPr txBox="1"/>
          <p:nvPr/>
        </p:nvSpPr>
        <p:spPr>
          <a:xfrm>
            <a:off x="7178040" y="3886200"/>
            <a:ext cx="4389120" cy="411480"/>
          </a:xfrm>
          <a:prstGeom prst="rect">
            <a:avLst/>
          </a:prstGeom>
          <a:noFill/>
        </p:spPr>
        <p:txBody>
          <a:bodyPr wrap="square">
            <a:spAutoFit/>
          </a:bodyPr>
          <a:lstStyle/>
          <a:p>
            <a:pPr algn="l"/>
            <a:r>
              <a:rPr sz="1300" b="1">
                <a:solidFill>
                  <a:srgbClr val="FFB703"/>
                </a:solidFill>
                <a:latin typeface="Calibri"/>
              </a:rPr>
              <a:t>What Real Eye-Tracking Would Add</a:t>
            </a:r>
          </a:p>
        </p:txBody>
      </p:sp>
      <p:sp>
        <p:nvSpPr>
          <p:cNvPr id="28" name="TextBox 27"/>
          <p:cNvSpPr txBox="1"/>
          <p:nvPr/>
        </p:nvSpPr>
        <p:spPr>
          <a:xfrm>
            <a:off x="6565392" y="4407407"/>
            <a:ext cx="5074920" cy="1810512"/>
          </a:xfrm>
          <a:prstGeom prst="rect">
            <a:avLst/>
          </a:prstGeom>
          <a:noFill/>
        </p:spPr>
        <p:txBody>
          <a:bodyPr wrap="square">
            <a:spAutoFit/>
          </a:bodyPr>
          <a:lstStyle/>
          <a:p>
            <a:pPr algn="l"/>
            <a:r>
              <a:rPr sz="1100" b="0">
                <a:solidFill>
                  <a:srgbClr val="4A4A5A"/>
                </a:solidFill>
                <a:latin typeface="Calibri"/>
              </a:rPr>
              <a:t>A study with 5–8 users (3 students, 3 admins, 2 mixed) performing realistic tasks would validate or refute these predictions. Heat maps would reveal unexpected fixation patterns. Saccade recordings would show actual vs predicted scan paths. Findings would enable data-driven iteration.</a:t>
            </a:r>
          </a:p>
        </p:txBody>
      </p:sp>
      <p:sp>
        <p:nvSpPr>
          <p:cNvPr id="29" name="TextBox 28"/>
          <p:cNvSpPr txBox="1"/>
          <p:nvPr/>
        </p:nvSpPr>
        <p:spPr>
          <a:xfrm>
            <a:off x="457200" y="6510528"/>
            <a:ext cx="11247120" cy="274320"/>
          </a:xfrm>
          <a:prstGeom prst="rect">
            <a:avLst/>
          </a:prstGeom>
          <a:noFill/>
        </p:spPr>
        <p:txBody>
          <a:bodyPr wrap="square">
            <a:spAutoFit/>
          </a:bodyPr>
          <a:lstStyle/>
          <a:p>
            <a:pPr algn="ctr"/>
            <a:r>
              <a:rPr sz="1100" b="0">
                <a:solidFill>
                  <a:srgbClr val="CCD0D8"/>
                </a:solidFill>
                <a:latin typeface="Calibri"/>
              </a:rPr>
              <a:t>Eye-tracking confirmed: a feature that exists in code is not guaranteed to exist in user experience.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0" cy="6858000"/>
          </a:xfrm>
          <a:prstGeom prst="rect">
            <a:avLst/>
          </a:prstGeom>
          <a:solidFill>
            <a:srgbClr val="0E3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3200400" cy="3200400"/>
          </a:xfrm>
          <a:prstGeom prst="ellipse">
            <a:avLst/>
          </a:prstGeom>
          <a:solidFill>
            <a:srgbClr val="0A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286000" y="182880"/>
            <a:ext cx="1828800" cy="1828800"/>
          </a:xfrm>
          <a:prstGeom prst="ellipse">
            <a:avLst/>
          </a:prstGeom>
          <a:solidFill>
            <a:srgbClr val="0A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71600"/>
            <a:ext cx="3840480" cy="731520"/>
          </a:xfrm>
          <a:prstGeom prst="rect">
            <a:avLst/>
          </a:prstGeom>
          <a:noFill/>
        </p:spPr>
        <p:txBody>
          <a:bodyPr wrap="square">
            <a:spAutoFit/>
          </a:bodyPr>
          <a:lstStyle/>
          <a:p>
            <a:pPr algn="l"/>
            <a:r>
              <a:rPr sz="4000" b="1">
                <a:solidFill>
                  <a:srgbClr val="FFFFFF"/>
                </a:solidFill>
                <a:latin typeface="Calibri"/>
              </a:rPr>
              <a:t>Summary</a:t>
            </a:r>
          </a:p>
        </p:txBody>
      </p:sp>
      <p:sp>
        <p:nvSpPr>
          <p:cNvPr id="7" name="TextBox 6"/>
          <p:cNvSpPr txBox="1"/>
          <p:nvPr/>
        </p:nvSpPr>
        <p:spPr>
          <a:xfrm>
            <a:off x="365760" y="2057400"/>
            <a:ext cx="3840480" cy="1097280"/>
          </a:xfrm>
          <a:prstGeom prst="rect">
            <a:avLst/>
          </a:prstGeom>
          <a:noFill/>
        </p:spPr>
        <p:txBody>
          <a:bodyPr wrap="square">
            <a:spAutoFit/>
          </a:bodyPr>
          <a:lstStyle/>
          <a:p>
            <a:pPr algn="l"/>
            <a:r>
              <a:rPr sz="2800" b="1">
                <a:solidFill>
                  <a:srgbClr val="00B4D8"/>
                </a:solidFill>
                <a:latin typeface="Calibri"/>
              </a:rPr>
              <a:t>Eye-Tracking
Analysis</a:t>
            </a:r>
          </a:p>
        </p:txBody>
      </p:sp>
      <p:sp>
        <p:nvSpPr>
          <p:cNvPr id="8" name="TextBox 7"/>
          <p:cNvSpPr txBox="1"/>
          <p:nvPr/>
        </p:nvSpPr>
        <p:spPr>
          <a:xfrm>
            <a:off x="365760" y="3200400"/>
            <a:ext cx="3840480" cy="411480"/>
          </a:xfrm>
          <a:prstGeom prst="rect">
            <a:avLst/>
          </a:prstGeom>
          <a:noFill/>
        </p:spPr>
        <p:txBody>
          <a:bodyPr wrap="square">
            <a:spAutoFit/>
          </a:bodyPr>
          <a:lstStyle/>
          <a:p>
            <a:pPr algn="l"/>
            <a:r>
              <a:rPr sz="1400" b="0">
                <a:solidFill>
                  <a:srgbClr val="CCD0D8"/>
                </a:solidFill>
                <a:latin typeface="Calibri"/>
              </a:rPr>
              <a:t>CollabX RDI Platform</a:t>
            </a:r>
          </a:p>
        </p:txBody>
      </p:sp>
      <p:sp>
        <p:nvSpPr>
          <p:cNvPr id="9" name="TextBox 8"/>
          <p:cNvSpPr txBox="1"/>
          <p:nvPr/>
        </p:nvSpPr>
        <p:spPr>
          <a:xfrm>
            <a:off x="365760" y="6217920"/>
            <a:ext cx="3840480" cy="347472"/>
          </a:xfrm>
          <a:prstGeom prst="rect">
            <a:avLst/>
          </a:prstGeom>
          <a:noFill/>
        </p:spPr>
        <p:txBody>
          <a:bodyPr wrap="square">
            <a:spAutoFit/>
          </a:bodyPr>
          <a:lstStyle/>
          <a:p>
            <a:pPr algn="l"/>
            <a:r>
              <a:rPr sz="1100" b="0">
                <a:solidFill>
                  <a:srgbClr val="CCD0D8"/>
                </a:solidFill>
                <a:latin typeface="Calibri"/>
              </a:rPr>
              <a:t>Khuman Rana  •  2026</a:t>
            </a:r>
          </a:p>
        </p:txBody>
      </p:sp>
      <p:sp>
        <p:nvSpPr>
          <p:cNvPr id="10" name="Oval 9"/>
          <p:cNvSpPr/>
          <p:nvPr/>
        </p:nvSpPr>
        <p:spPr>
          <a:xfrm>
            <a:off x="4846320" y="1005840"/>
            <a:ext cx="914400" cy="9144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115568"/>
            <a:ext cx="914400" cy="594360"/>
          </a:xfrm>
          <a:prstGeom prst="rect">
            <a:avLst/>
          </a:prstGeom>
          <a:noFill/>
        </p:spPr>
        <p:txBody>
          <a:bodyPr wrap="square">
            <a:spAutoFit/>
          </a:bodyPr>
          <a:lstStyle/>
          <a:p>
            <a:pPr algn="ctr"/>
            <a:r>
              <a:rPr sz="3000" b="1">
                <a:solidFill>
                  <a:srgbClr val="FFFFFF"/>
                </a:solidFill>
                <a:latin typeface="Calibri"/>
              </a:rPr>
              <a:t>3</a:t>
            </a:r>
          </a:p>
        </p:txBody>
      </p:sp>
      <p:sp>
        <p:nvSpPr>
          <p:cNvPr id="12" name="TextBox 11"/>
          <p:cNvSpPr txBox="1"/>
          <p:nvPr/>
        </p:nvSpPr>
        <p:spPr>
          <a:xfrm>
            <a:off x="4663440" y="2057400"/>
            <a:ext cx="1280160" cy="411480"/>
          </a:xfrm>
          <a:prstGeom prst="rect">
            <a:avLst/>
          </a:prstGeom>
          <a:noFill/>
        </p:spPr>
        <p:txBody>
          <a:bodyPr wrap="square">
            <a:spAutoFit/>
          </a:bodyPr>
          <a:lstStyle/>
          <a:p>
            <a:pPr algn="ctr"/>
            <a:r>
              <a:rPr sz="900" b="0">
                <a:solidFill>
                  <a:srgbClr val="CCD0D8"/>
                </a:solidFill>
                <a:latin typeface="Calibri"/>
              </a:rPr>
              <a:t>Screens Analysed</a:t>
            </a:r>
          </a:p>
        </p:txBody>
      </p:sp>
      <p:sp>
        <p:nvSpPr>
          <p:cNvPr id="13" name="Oval 12"/>
          <p:cNvSpPr/>
          <p:nvPr/>
        </p:nvSpPr>
        <p:spPr>
          <a:xfrm>
            <a:off x="6675120" y="1005840"/>
            <a:ext cx="914400" cy="91440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115568"/>
            <a:ext cx="914400" cy="594360"/>
          </a:xfrm>
          <a:prstGeom prst="rect">
            <a:avLst/>
          </a:prstGeom>
          <a:noFill/>
        </p:spPr>
        <p:txBody>
          <a:bodyPr wrap="square">
            <a:spAutoFit/>
          </a:bodyPr>
          <a:lstStyle/>
          <a:p>
            <a:pPr algn="ctr"/>
            <a:r>
              <a:rPr sz="3000" b="1">
                <a:solidFill>
                  <a:srgbClr val="FFFFFF"/>
                </a:solidFill>
                <a:latin typeface="Calibri"/>
              </a:rPr>
              <a:t>6</a:t>
            </a:r>
          </a:p>
        </p:txBody>
      </p:sp>
      <p:sp>
        <p:nvSpPr>
          <p:cNvPr id="15" name="TextBox 14"/>
          <p:cNvSpPr txBox="1"/>
          <p:nvPr/>
        </p:nvSpPr>
        <p:spPr>
          <a:xfrm>
            <a:off x="6492240" y="2057400"/>
            <a:ext cx="1280160" cy="411480"/>
          </a:xfrm>
          <a:prstGeom prst="rect">
            <a:avLst/>
          </a:prstGeom>
          <a:noFill/>
        </p:spPr>
        <p:txBody>
          <a:bodyPr wrap="square">
            <a:spAutoFit/>
          </a:bodyPr>
          <a:lstStyle/>
          <a:p>
            <a:pPr algn="ctr"/>
            <a:r>
              <a:rPr sz="900" b="0">
                <a:solidFill>
                  <a:srgbClr val="CCD0D8"/>
                </a:solidFill>
                <a:latin typeface="Calibri"/>
              </a:rPr>
              <a:t>Issues Found</a:t>
            </a:r>
          </a:p>
        </p:txBody>
      </p:sp>
      <p:sp>
        <p:nvSpPr>
          <p:cNvPr id="16" name="Oval 15"/>
          <p:cNvSpPr/>
          <p:nvPr/>
        </p:nvSpPr>
        <p:spPr>
          <a:xfrm>
            <a:off x="8503920" y="1005840"/>
            <a:ext cx="914400" cy="91440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1115568"/>
            <a:ext cx="914400" cy="594360"/>
          </a:xfrm>
          <a:prstGeom prst="rect">
            <a:avLst/>
          </a:prstGeom>
          <a:noFill/>
        </p:spPr>
        <p:txBody>
          <a:bodyPr wrap="square">
            <a:spAutoFit/>
          </a:bodyPr>
          <a:lstStyle/>
          <a:p>
            <a:pPr algn="ctr"/>
            <a:r>
              <a:rPr sz="3000" b="1">
                <a:solidFill>
                  <a:srgbClr val="FFFFFF"/>
                </a:solidFill>
                <a:latin typeface="Calibri"/>
              </a:rPr>
              <a:t>6</a:t>
            </a:r>
          </a:p>
        </p:txBody>
      </p:sp>
      <p:sp>
        <p:nvSpPr>
          <p:cNvPr id="18" name="TextBox 17"/>
          <p:cNvSpPr txBox="1"/>
          <p:nvPr/>
        </p:nvSpPr>
        <p:spPr>
          <a:xfrm>
            <a:off x="8321040" y="2057400"/>
            <a:ext cx="1280160" cy="411480"/>
          </a:xfrm>
          <a:prstGeom prst="rect">
            <a:avLst/>
          </a:prstGeom>
          <a:noFill/>
        </p:spPr>
        <p:txBody>
          <a:bodyPr wrap="square">
            <a:spAutoFit/>
          </a:bodyPr>
          <a:lstStyle/>
          <a:p>
            <a:pPr algn="ctr"/>
            <a:r>
              <a:rPr sz="900" b="0">
                <a:solidFill>
                  <a:srgbClr val="CCD0D8"/>
                </a:solidFill>
                <a:latin typeface="Calibri"/>
              </a:rPr>
              <a:t>Improvements</a:t>
            </a:r>
          </a:p>
        </p:txBody>
      </p:sp>
      <p:sp>
        <p:nvSpPr>
          <p:cNvPr id="19" name="Oval 18"/>
          <p:cNvSpPr/>
          <p:nvPr/>
        </p:nvSpPr>
        <p:spPr>
          <a:xfrm>
            <a:off x="10332720" y="1005840"/>
            <a:ext cx="914400" cy="91440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0" y="1115568"/>
            <a:ext cx="914400" cy="594360"/>
          </a:xfrm>
          <a:prstGeom prst="rect">
            <a:avLst/>
          </a:prstGeom>
          <a:noFill/>
        </p:spPr>
        <p:txBody>
          <a:bodyPr wrap="square">
            <a:spAutoFit/>
          </a:bodyPr>
          <a:lstStyle/>
          <a:p>
            <a:pPr algn="ctr"/>
            <a:r>
              <a:rPr sz="3000" b="1">
                <a:solidFill>
                  <a:srgbClr val="FFFFFF"/>
                </a:solidFill>
                <a:latin typeface="Calibri"/>
              </a:rPr>
              <a:t>3</a:t>
            </a:r>
          </a:p>
        </p:txBody>
      </p:sp>
      <p:sp>
        <p:nvSpPr>
          <p:cNvPr id="21" name="TextBox 20"/>
          <p:cNvSpPr txBox="1"/>
          <p:nvPr/>
        </p:nvSpPr>
        <p:spPr>
          <a:xfrm>
            <a:off x="10149840" y="2057400"/>
            <a:ext cx="1280160" cy="411480"/>
          </a:xfrm>
          <a:prstGeom prst="rect">
            <a:avLst/>
          </a:prstGeom>
          <a:noFill/>
        </p:spPr>
        <p:txBody>
          <a:bodyPr wrap="square">
            <a:spAutoFit/>
          </a:bodyPr>
          <a:lstStyle/>
          <a:p>
            <a:pPr algn="ctr"/>
            <a:r>
              <a:rPr sz="900" b="0">
                <a:solidFill>
                  <a:srgbClr val="CCD0D8"/>
                </a:solidFill>
                <a:latin typeface="Calibri"/>
              </a:rPr>
              <a:t>Critical</a:t>
            </a:r>
          </a:p>
        </p:txBody>
      </p:sp>
      <p:sp>
        <p:nvSpPr>
          <p:cNvPr id="22" name="Rectangle 21"/>
          <p:cNvSpPr/>
          <p:nvPr/>
        </p:nvSpPr>
        <p:spPr>
          <a:xfrm>
            <a:off x="4754880" y="2651760"/>
            <a:ext cx="7223760" cy="27432"/>
          </a:xfrm>
          <a:prstGeom prst="rect">
            <a:avLst/>
          </a:prstGeom>
          <a:solidFill>
            <a:srgbClr val="2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2834640"/>
            <a:ext cx="6858000" cy="384048"/>
          </a:xfrm>
          <a:prstGeom prst="rect">
            <a:avLst/>
          </a:prstGeom>
          <a:noFill/>
        </p:spPr>
        <p:txBody>
          <a:bodyPr wrap="square">
            <a:spAutoFit/>
          </a:bodyPr>
          <a:lstStyle/>
          <a:p>
            <a:pPr algn="l"/>
            <a:r>
              <a:rPr sz="1400" b="1">
                <a:solidFill>
                  <a:srgbClr val="FFFFFF"/>
                </a:solidFill>
                <a:latin typeface="Calibri"/>
              </a:rPr>
              <a:t>Key Findings</a:t>
            </a:r>
          </a:p>
        </p:txBody>
      </p:sp>
      <p:sp>
        <p:nvSpPr>
          <p:cNvPr id="24" name="Rectangle 23"/>
          <p:cNvSpPr/>
          <p:nvPr/>
        </p:nvSpPr>
        <p:spPr>
          <a:xfrm>
            <a:off x="4754880" y="3337560"/>
            <a:ext cx="731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56048" y="3291840"/>
            <a:ext cx="6766560" cy="475488"/>
          </a:xfrm>
          <a:prstGeom prst="rect">
            <a:avLst/>
          </a:prstGeom>
          <a:noFill/>
        </p:spPr>
        <p:txBody>
          <a:bodyPr wrap="square">
            <a:spAutoFit/>
          </a:bodyPr>
          <a:lstStyle/>
          <a:p>
            <a:pPr algn="l"/>
            <a:r>
              <a:rPr sz="1100" b="0">
                <a:solidFill>
                  <a:srgbClr val="FFFFFF"/>
                </a:solidFill>
                <a:latin typeface="Calibri"/>
              </a:rPr>
              <a:t>F-pattern means right-column and bottom content gets near-zero fixation</a:t>
            </a:r>
          </a:p>
        </p:txBody>
      </p:sp>
      <p:sp>
        <p:nvSpPr>
          <p:cNvPr id="26" name="Rectangle 25"/>
          <p:cNvSpPr/>
          <p:nvPr/>
        </p:nvSpPr>
        <p:spPr>
          <a:xfrm>
            <a:off x="4754880" y="3886200"/>
            <a:ext cx="73152" cy="7315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6048" y="3840480"/>
            <a:ext cx="6766560" cy="475488"/>
          </a:xfrm>
          <a:prstGeom prst="rect">
            <a:avLst/>
          </a:prstGeom>
          <a:noFill/>
        </p:spPr>
        <p:txBody>
          <a:bodyPr wrap="square">
            <a:spAutoFit/>
          </a:bodyPr>
          <a:lstStyle/>
          <a:p>
            <a:pPr algn="l"/>
            <a:r>
              <a:rPr sz="1100" b="0">
                <a:solidFill>
                  <a:srgbClr val="FFFFFF"/>
                </a:solidFill>
                <a:latin typeface="Calibri"/>
              </a:rPr>
              <a:t>AI Score invisible on both student and admin screens</a:t>
            </a:r>
          </a:p>
        </p:txBody>
      </p:sp>
      <p:sp>
        <p:nvSpPr>
          <p:cNvPr id="28" name="Rectangle 27"/>
          <p:cNvSpPr/>
          <p:nvPr/>
        </p:nvSpPr>
        <p:spPr>
          <a:xfrm>
            <a:off x="4754880" y="4434840"/>
            <a:ext cx="73152" cy="73152"/>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6048" y="4389120"/>
            <a:ext cx="6766560" cy="475488"/>
          </a:xfrm>
          <a:prstGeom prst="rect">
            <a:avLst/>
          </a:prstGeom>
          <a:noFill/>
        </p:spPr>
        <p:txBody>
          <a:bodyPr wrap="square">
            <a:spAutoFit/>
          </a:bodyPr>
          <a:lstStyle/>
          <a:p>
            <a:pPr algn="l"/>
            <a:r>
              <a:rPr sz="1100" b="0">
                <a:solidFill>
                  <a:srgbClr val="FFFFFF"/>
                </a:solidFill>
                <a:latin typeface="Calibri"/>
              </a:rPr>
              <a:t>Template buttons missed — students type without using templates</a:t>
            </a:r>
          </a:p>
        </p:txBody>
      </p:sp>
      <p:sp>
        <p:nvSpPr>
          <p:cNvPr id="30" name="Rectangle 29"/>
          <p:cNvSpPr/>
          <p:nvPr/>
        </p:nvSpPr>
        <p:spPr>
          <a:xfrm>
            <a:off x="4754880" y="4983479"/>
            <a:ext cx="73152" cy="7315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56048" y="4937760"/>
            <a:ext cx="6766560" cy="475488"/>
          </a:xfrm>
          <a:prstGeom prst="rect">
            <a:avLst/>
          </a:prstGeom>
          <a:noFill/>
        </p:spPr>
        <p:txBody>
          <a:bodyPr wrap="square">
            <a:spAutoFit/>
          </a:bodyPr>
          <a:lstStyle/>
          <a:p>
            <a:pPr algn="l"/>
            <a:r>
              <a:rPr sz="1100" b="0">
                <a:solidFill>
                  <a:srgbClr val="FFFFFF"/>
                </a:solidFill>
                <a:latin typeface="Calibri"/>
              </a:rPr>
              <a:t>Skill Gap Analysis below fold — most useful feature, zero attention</a:t>
            </a:r>
          </a:p>
        </p:txBody>
      </p:sp>
      <p:sp>
        <p:nvSpPr>
          <p:cNvPr id="32" name="Rectangle 31"/>
          <p:cNvSpPr/>
          <p:nvPr/>
        </p:nvSpPr>
        <p:spPr>
          <a:xfrm>
            <a:off x="4754880" y="5532120"/>
            <a:ext cx="73152" cy="73152"/>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56048" y="5486400"/>
            <a:ext cx="6766560" cy="475488"/>
          </a:xfrm>
          <a:prstGeom prst="rect">
            <a:avLst/>
          </a:prstGeom>
          <a:noFill/>
        </p:spPr>
        <p:txBody>
          <a:bodyPr wrap="square">
            <a:spAutoFit/>
          </a:bodyPr>
          <a:lstStyle/>
          <a:p>
            <a:pPr algn="l"/>
            <a:r>
              <a:rPr sz="1100" b="0">
                <a:solidFill>
                  <a:srgbClr val="FFFFFF"/>
                </a:solidFill>
                <a:latin typeface="Calibri"/>
              </a:rPr>
              <a:t>Approve button fixated before proposal content is read</a:t>
            </a:r>
          </a:p>
        </p:txBody>
      </p:sp>
      <p:sp>
        <p:nvSpPr>
          <p:cNvPr id="34" name="Rectangle 33"/>
          <p:cNvSpPr/>
          <p:nvPr/>
        </p:nvSpPr>
        <p:spPr>
          <a:xfrm>
            <a:off x="4754880" y="6080760"/>
            <a:ext cx="73152" cy="73152"/>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56048" y="6035040"/>
            <a:ext cx="6766560" cy="475488"/>
          </a:xfrm>
          <a:prstGeom prst="rect">
            <a:avLst/>
          </a:prstGeom>
          <a:noFill/>
        </p:spPr>
        <p:txBody>
          <a:bodyPr wrap="square">
            <a:spAutoFit/>
          </a:bodyPr>
          <a:lstStyle/>
          <a:p>
            <a:pPr algn="l"/>
            <a:r>
              <a:rPr sz="1100" b="0">
                <a:solidFill>
                  <a:srgbClr val="FFFFFF"/>
                </a:solidFill>
                <a:latin typeface="Calibri"/>
              </a:rPr>
              <a:t>6 design improvements proposed to realign attention with task priorities</a:t>
            </a:r>
          </a:p>
        </p:txBody>
      </p:sp>
      <p:sp>
        <p:nvSpPr>
          <p:cNvPr id="36" name="Rectangle 35"/>
          <p:cNvSpPr/>
          <p:nvPr/>
        </p:nvSpPr>
        <p:spPr>
          <a:xfrm>
            <a:off x="4754880" y="6583680"/>
            <a:ext cx="7223760" cy="27432"/>
          </a:xfrm>
          <a:prstGeom prst="rect">
            <a:avLst/>
          </a:prstGeom>
          <a:solidFill>
            <a:srgbClr val="2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0" y="6629400"/>
            <a:ext cx="7223760" cy="256032"/>
          </a:xfrm>
          <a:prstGeom prst="rect">
            <a:avLst/>
          </a:prstGeom>
          <a:noFill/>
        </p:spPr>
        <p:txBody>
          <a:bodyPr wrap="square">
            <a:spAutoFit/>
          </a:bodyPr>
          <a:lstStyle/>
          <a:p>
            <a:pPr algn="l"/>
            <a:r>
              <a:rPr sz="1000" b="0">
                <a:solidFill>
                  <a:srgbClr val="CCD0D8"/>
                </a:solidFill>
                <a:latin typeface="Calibri"/>
              </a:rPr>
              <a:t>Method: Analytical eye-tracking — applying fixation principles without hardware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